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c7e11dc2194a447c" /><Relationship Type="http://schemas.openxmlformats.org/officeDocument/2006/relationships/extended-properties" Target="/docProps/app.xml" Id="Rc454085de7d6433f" /><Relationship Type="http://schemas.openxmlformats.org/officeDocument/2006/relationships/officeDocument" Target="/ppt/presentation.xml" Id="Rce81fb0ecd684655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3bf88a8282d9451b"/>
  </p:sldMasterIdLst>
  <p:notesMasterIdLst>
    <p:notesMasterId xmlns:r="http://schemas.openxmlformats.org/officeDocument/2006/relationships" r:id="R4cf1ad29e9054585"/>
  </p:notesMasterIdLst>
  <p:sldIdLst>
    <p:sldId xmlns:r="http://schemas.openxmlformats.org/officeDocument/2006/relationships" id="256" r:id="Rb19fb9344dbf4a68"/>
    <p:sldId xmlns:r="http://schemas.openxmlformats.org/officeDocument/2006/relationships" id="257" r:id="R307e6558ee964c8b"/>
    <p:sldId xmlns:r="http://schemas.openxmlformats.org/officeDocument/2006/relationships" id="258" r:id="R6a8a63a76e0b420b"/>
    <p:sldId xmlns:r="http://schemas.openxmlformats.org/officeDocument/2006/relationships" id="259" r:id="R9f9e29e626ff4eeb"/>
    <p:sldId xmlns:r="http://schemas.openxmlformats.org/officeDocument/2006/relationships" id="260" r:id="Rb0096fad61c24f6f"/>
    <p:sldId xmlns:r="http://schemas.openxmlformats.org/officeDocument/2006/relationships" id="261" r:id="Rab60b55e51864edb"/>
    <p:sldId xmlns:r="http://schemas.openxmlformats.org/officeDocument/2006/relationships" id="262" r:id="R1993c70348ca43e9"/>
    <p:sldId xmlns:r="http://schemas.openxmlformats.org/officeDocument/2006/relationships" id="263" r:id="Rbbfba6c33c184217"/>
    <p:sldId xmlns:r="http://schemas.openxmlformats.org/officeDocument/2006/relationships" id="264" r:id="R214f441853ad4b0c"/>
    <p:sldId xmlns:r="http://schemas.openxmlformats.org/officeDocument/2006/relationships" id="265" r:id="Rfaa5619b886945f8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550552f2dea54033" /><Relationship Type="http://schemas.openxmlformats.org/officeDocument/2006/relationships/slideMaster" Target="/ppt/slideMasters/slideMaster1.xml" Id="R3bf88a8282d9451b" /><Relationship Type="http://schemas.openxmlformats.org/officeDocument/2006/relationships/notesMaster" Target="/ppt/notesMasters/notesMaster1.xml" Id="R4cf1ad29e9054585" /><Relationship Type="http://schemas.openxmlformats.org/officeDocument/2006/relationships/presProps" Target="/ppt/presProps.xml" Id="R21aa51487c044e44" /><Relationship Type="http://schemas.openxmlformats.org/officeDocument/2006/relationships/tableStyles" Target="/ppt/tableStyles.xml" Id="Re71560e71b744a44" /><Relationship Type="http://schemas.openxmlformats.org/officeDocument/2006/relationships/slide" Target="/ppt/slides/slide1.xml" Id="Rb19fb9344dbf4a68" /><Relationship Type="http://schemas.openxmlformats.org/officeDocument/2006/relationships/slide" Target="/ppt/slides/slide2.xml" Id="R307e6558ee964c8b" /><Relationship Type="http://schemas.openxmlformats.org/officeDocument/2006/relationships/slide" Target="/ppt/slides/slide3.xml" Id="R6a8a63a76e0b420b" /><Relationship Type="http://schemas.openxmlformats.org/officeDocument/2006/relationships/slide" Target="/ppt/slides/slide4.xml" Id="R9f9e29e626ff4eeb" /><Relationship Type="http://schemas.openxmlformats.org/officeDocument/2006/relationships/slide" Target="/ppt/slides/slide5.xml" Id="Rb0096fad61c24f6f" /><Relationship Type="http://schemas.openxmlformats.org/officeDocument/2006/relationships/slide" Target="/ppt/slides/slide6.xml" Id="Rab60b55e51864edb" /><Relationship Type="http://schemas.openxmlformats.org/officeDocument/2006/relationships/slide" Target="/ppt/slides/slide7.xml" Id="R1993c70348ca43e9" /><Relationship Type="http://schemas.openxmlformats.org/officeDocument/2006/relationships/slide" Target="/ppt/slides/slide8.xml" Id="Rbbfba6c33c184217" /><Relationship Type="http://schemas.openxmlformats.org/officeDocument/2006/relationships/slide" Target="/ppt/slides/slide9.xml" Id="R214f441853ad4b0c" /><Relationship Type="http://schemas.openxmlformats.org/officeDocument/2006/relationships/slide" Target="/ppt/slides/slide10.xml" Id="Rfaa5619b886945f8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92c4ff50bb714cac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5d97d054fbb44e6b" /><Relationship Type="http://schemas.openxmlformats.org/officeDocument/2006/relationships/notesMaster" Target="/ppt/notesMasters/notesMaster1.xml" Id="Rc98e8cb846324df5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a87cdddbe3234455" /><Relationship Type="http://schemas.openxmlformats.org/officeDocument/2006/relationships/notesMaster" Target="/ppt/notesMasters/notesMaster1.xml" Id="R6038c11506c448d1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529e61f8239e40a2" /><Relationship Type="http://schemas.openxmlformats.org/officeDocument/2006/relationships/notesMaster" Target="/ppt/notesMasters/notesMaster1.xml" Id="R6587f5cebdb64fb2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4ae8307d30844d4d" /><Relationship Type="http://schemas.openxmlformats.org/officeDocument/2006/relationships/notesMaster" Target="/ppt/notesMasters/notesMaster1.xml" Id="Rd3981739cd1c4378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9626e2aa4ba343a0" /><Relationship Type="http://schemas.openxmlformats.org/officeDocument/2006/relationships/notesMaster" Target="/ppt/notesMasters/notesMaster1.xml" Id="R394df64096744fed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2cb49f3bafd24c39" /><Relationship Type="http://schemas.openxmlformats.org/officeDocument/2006/relationships/notesMaster" Target="/ppt/notesMasters/notesMaster1.xml" Id="Rcf539305eea74edc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80d95cf71b034c65" /><Relationship Type="http://schemas.openxmlformats.org/officeDocument/2006/relationships/notesMaster" Target="/ppt/notesMasters/notesMaster1.xml" Id="R3489a71db2fb41eb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0e9f8476ec1d440a" /><Relationship Type="http://schemas.openxmlformats.org/officeDocument/2006/relationships/notesMaster" Target="/ppt/notesMasters/notesMaster1.xml" Id="Rc57521d1154b4863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9befc00fb61947e8" /><Relationship Type="http://schemas.openxmlformats.org/officeDocument/2006/relationships/notesMaster" Target="/ppt/notesMasters/notesMaster1.xml" Id="R1cabe78379ac4302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3340de19991441db" /><Relationship Type="http://schemas.openxmlformats.org/officeDocument/2006/relationships/notesMaster" Target="/ppt/notesMasters/notesMaster1.xml" Id="R790b70e4fb18425c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Original focused mini-lesson. Use with the complete teaching-bundle PDF. Objective: Connect equal groups, multiplication, and division. Standard: NC.3.OA.3. Official source accessed September 15, 2026: https://www.dpi.nc.gov/documents/publications/catalog/ma196-vertical-progression-math/open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Invite a simpler prior-knowledge example. Use counters, diagrams, home-language rehearsal, or documented supports. Read the full teacher guide before presenting.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Draw one box for each group. Put the same number of marks in every box. Count all marks to check the product.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Worked answer: 72 ÷ 9 = 8; 9 groups of 8 make 72. Ask students to connect the model with symbols before revealing the answer.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Student direction: write or draw your reasoning on paper. Worked solution: 3 × 5 = 15; add 5 a total of 3 times. Access: allow oral rehearsal, manipulatives, or reduced copying according to individual plans. Extension: invent a new problem with the same structure and verify it.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Student direction: write or draw your reasoning on paper. Worked solution: 18 ÷ 6 = 3; 6 groups of 3 make 18. Access: allow oral rehearsal, manipulatives, or reduced copying according to individual plans. Extension: invent a new problem with the same structure and verify it.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Student direction: write or draw your reasoning on paper. Worked solution: 8 × 4 = 32; add 4 a total of 8 times. Access: allow oral rehearsal, manipulatives, or reduced copying according to individual plans. Extension: invent a new problem with the same structure and verify it.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Student direction: write or draw your reasoning on paper. Worked solution: 49 ÷ 7 = 7; 7 groups of 7 make 49. Access: allow oral rehearsal, manipulatives, or reduced copying according to individual plans. Extension: invent a new problem with the same structure and verify it.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Answer: 2 × 7 = 14; add 7 a total of 2 times. Score 2 for correct result with coherent reasoning, 1 for a correct method with a minor error or an unexplained correct result, 0 for unsupported reasoning. This is a local instructional rubric, not a standardized score.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1. 3 × 5 = 15; add 5 a total of 3 times.</a:t>
            </a:r>
          </a:p>
          <a:p xmlns:a="http://schemas.openxmlformats.org/drawingml/2006/main">
            <a:r>
              <a:t>2. 18 ÷ 6 = 3; 6 groups of 3 make 18.</a:t>
            </a:r>
          </a:p>
          <a:p xmlns:a="http://schemas.openxmlformats.org/drawingml/2006/main">
            <a:r>
              <a:t>3. 8 × 4 = 32; add 4 a total of 8 times.</a:t>
            </a:r>
          </a:p>
          <a:p xmlns:a="http://schemas.openxmlformats.org/drawingml/2006/main">
            <a:r>
              <a:t>4. 49 ÷ 7 = 7; 7 groups of 7 make 49.</a:t>
            </a:r>
          </a:p>
          <a:p xmlns:a="http://schemas.openxmlformats.org/drawingml/2006/main">
            <a:r>
              <a:t>Exit: 2 × 7 = 14; add 7 a total of 2 times.</a:t>
            </a:r>
          </a:p>
          <a:p xmlns:a="http://schemas.openxmlformats.org/drawingml/2006/main">
            <a:r>
              <a:t>AIG: second methods and counterexamples. 504: follow documented pacing and format supports. EC: model a step and provide concrete representations in line with the IEP. ESL: preview vocabulary and use partner or home-language rehearsal. Single-teacher classroom license. No public redistribution.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46c9147cf2504b96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84651c7224764fdf" /><Relationship Type="http://schemas.openxmlformats.org/officeDocument/2006/relationships/slideLayout" Target="/ppt/slideLayouts/slideLayout1.xml" Id="R1b77072d277b45ef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1b77072d277b45ef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903e0cbc18d412b" /><Relationship Type="http://schemas.openxmlformats.org/officeDocument/2006/relationships/image" Target="/ppt/media/image.png" Id="R257cefbea3014f80" /><Relationship Type="http://schemas.openxmlformats.org/officeDocument/2006/relationships/image" Target="/ppt/media/image2.png" Id="R6e94dbed02c440c6" /><Relationship Type="http://schemas.openxmlformats.org/officeDocument/2006/relationships/notesSlide" Target="/ppt/notesSlides/notesSlide1.xml" Id="R70f058cd9ab941a8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2be0f4d0f514036" /><Relationship Type="http://schemas.openxmlformats.org/officeDocument/2006/relationships/image" Target="/ppt/media/image3.png" Id="Rd7deacc391fb44d9" /><Relationship Type="http://schemas.openxmlformats.org/officeDocument/2006/relationships/notesSlide" Target="/ppt/notesSlides/notesSlide2.xml" Id="R31ae1624a5c146a9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5d6a3c757044865" /><Relationship Type="http://schemas.openxmlformats.org/officeDocument/2006/relationships/image" Target="/ppt/media/image4.png" Id="R56abb91bdd0a4ac0" /><Relationship Type="http://schemas.openxmlformats.org/officeDocument/2006/relationships/notesSlide" Target="/ppt/notesSlides/notesSlide3.xml" Id="R5ef8fd61d33e40d7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78c6bb1a8484f72" /><Relationship Type="http://schemas.openxmlformats.org/officeDocument/2006/relationships/image" Target="/ppt/media/image5.png" Id="R15951d8a4a9645f7" /><Relationship Type="http://schemas.openxmlformats.org/officeDocument/2006/relationships/notesSlide" Target="/ppt/notesSlides/notesSlide4.xml" Id="R758dda46cde94ea6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000649004194d53" /><Relationship Type="http://schemas.openxmlformats.org/officeDocument/2006/relationships/image" Target="/ppt/media/image6.png" Id="Rb7173e1875ca4ba3" /><Relationship Type="http://schemas.openxmlformats.org/officeDocument/2006/relationships/notesSlide" Target="/ppt/notesSlides/notesSlide5.xml" Id="Re46843153d2d439b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265967e499147ed" /><Relationship Type="http://schemas.openxmlformats.org/officeDocument/2006/relationships/image" Target="/ppt/media/image7.png" Id="Rc4deb3a7817e4fda" /><Relationship Type="http://schemas.openxmlformats.org/officeDocument/2006/relationships/notesSlide" Target="/ppt/notesSlides/notesSlide6.xml" Id="Rb0abb55ae47d4307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8feda9350864481" /><Relationship Type="http://schemas.openxmlformats.org/officeDocument/2006/relationships/image" Target="/ppt/media/image8.png" Id="R5f382a61b89040f8" /><Relationship Type="http://schemas.openxmlformats.org/officeDocument/2006/relationships/notesSlide" Target="/ppt/notesSlides/notesSlide7.xml" Id="R64c97595029d406e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4022bcd845e4456" /><Relationship Type="http://schemas.openxmlformats.org/officeDocument/2006/relationships/image" Target="/ppt/media/image9.png" Id="Rbac05bb0855e4928" /><Relationship Type="http://schemas.openxmlformats.org/officeDocument/2006/relationships/notesSlide" Target="/ppt/notesSlides/notesSlide8.xml" Id="R3c0a34fc566e4300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d61529364004fb1" /><Relationship Type="http://schemas.openxmlformats.org/officeDocument/2006/relationships/image" Target="/ppt/media/image10.png" Id="R6dbfe077e7ce4226" /><Relationship Type="http://schemas.openxmlformats.org/officeDocument/2006/relationships/notesSlide" Target="/ppt/notesSlides/notesSlide9.xml" Id="Rc6fbacffa4f54cdf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339af39a97f4a0a" /><Relationship Type="http://schemas.openxmlformats.org/officeDocument/2006/relationships/image" Target="/ppt/media/image11.png" Id="Rebde66f671e443b9" /><Relationship Type="http://schemas.openxmlformats.org/officeDocument/2006/relationships/notesSlide" Target="/ppt/notesSlides/notesSlide10.xml" Id="Rfedca4e3916a49e2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BFC90EF-0004-49AD-BADA-5A491DEC41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47650"/>
            <a:ext cx="10477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246A70"/>
                </a:solidFill>
                <a:latin typeface="DejaVu Sans"/>
                <a:ea typeface="DejaVu Sans"/>
                <a:cs typeface="DejaVu Sans"/>
              </a:defRPr>
            </a:pPr>
            <a:r>
              <a:rPr sz="1350" b="1">
                <a:solidFill>
                  <a:srgbClr val="246A70"/>
                </a:solidFill>
                <a:latin typeface="DejaVu Sans"/>
                <a:ea typeface="DejaVu Sans"/>
                <a:cs typeface="DejaVu Sans"/>
              </a:rPr>
              <a:t>SAINT PIERRE LEARNING RESOURCES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0B9A73B-73AE-4851-8427-9A18FF2922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723900"/>
            <a:ext cx="10953750" cy="1123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225" b="1">
                <a:solidFill>
                  <a:srgbClr val="172D46"/>
                </a:solidFill>
                <a:latin typeface="DejaVu Sans"/>
                <a:ea typeface="DejaVu Sans"/>
                <a:cs typeface="DejaVu Sans"/>
              </a:defRPr>
            </a:pPr>
            <a:r>
              <a:rPr sz="3225" b="1">
                <a:solidFill>
                  <a:srgbClr val="172D46"/>
                </a:solidFill>
                <a:latin typeface="DejaVu Sans"/>
                <a:ea typeface="DejaVu Sans"/>
                <a:cs typeface="DejaVu Sans"/>
              </a:rPr>
              <a:t>Equal Groups and Fair Shares</a:t>
            </a:r>
          </a:p>
        </p:txBody>
      </p:sp>
      <p:pic>
        <p:nvPicPr>
          <p:cNvPr id="11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57cefbea3014f80"/>
          <a:stretch xmlns:a="http://schemas.openxmlformats.org/drawingml/2006/main"/>
        </p:blipFill>
        <p:spPr>
          <a:xfrm xmlns:a="http://schemas.openxmlformats.org/drawingml/2006/main">
            <a:off x="571500" y="6043613"/>
            <a:ext cx="590550" cy="590550"/>
          </a:xfrm>
          <a:prstGeom xmlns:a="http://schemas.openxmlformats.org/drawingml/2006/main" prst="rect">
            <a:avLst/>
          </a:prstGeom>
        </p:spPr>
      </p:pic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E4B58AA-6DB6-4C83-A91A-6D140A034D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04925" y="6267450"/>
            <a:ext cx="90487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536574"/>
                </a:solidFill>
                <a:latin typeface="DejaVu Sans"/>
                <a:ea typeface="DejaVu Sans"/>
                <a:cs typeface="DejaVu Sans"/>
              </a:defRPr>
            </a:pPr>
            <a:r>
              <a:rPr sz="1200" b="0">
                <a:solidFill>
                  <a:srgbClr val="536574"/>
                </a:solidFill>
                <a:latin typeface="DejaVu Sans"/>
                <a:ea typeface="DejaVu Sans"/>
                <a:cs typeface="DejaVu Sans"/>
              </a:rPr>
              <a:t>© 2026 Saint Pierre Learning Resources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BBFD147-818B-446B-BC5D-6B10FA5DB5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257925"/>
            <a:ext cx="4762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536574"/>
                </a:solidFill>
                <a:latin typeface="DejaVu Sans"/>
                <a:ea typeface="DejaVu Sans"/>
                <a:cs typeface="DejaVu Sans"/>
              </a:defRPr>
            </a:pPr>
            <a:r>
              <a:rPr sz="1200" b="0">
                <a:solidFill>
                  <a:srgbClr val="536574"/>
                </a:solidFill>
                <a:latin typeface="DejaVu Sans"/>
                <a:ea typeface="DejaVu Sans"/>
                <a:cs typeface="DejaVu Sans"/>
              </a:rPr>
              <a:t>1</a:t>
            </a:r>
          </a:p>
        </p:txBody>
      </p:sp>
      <p:pic>
        <p:nvPicPr>
          <p:cNvPr id="14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e94dbed02c440c6"/>
          <a:stretch xmlns:a="http://schemas.openxmlformats.org/drawingml/2006/main"/>
        </p:blipFill>
        <p:spPr>
          <a:xfrm xmlns:a="http://schemas.openxmlformats.org/drawingml/2006/main">
            <a:off x="571500" y="2447925"/>
            <a:ext cx="2000250" cy="2000250"/>
          </a:xfrm>
          <a:prstGeom xmlns:a="http://schemas.openxmlformats.org/drawingml/2006/main" prst="rect">
            <a:avLst/>
          </a:prstGeom>
        </p:spPr>
      </p:pic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47D6730-6EE1-4DBE-B0B4-76C6FF2ED4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8000" y="2552700"/>
            <a:ext cx="790575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 b="1">
                <a:solidFill>
                  <a:srgbClr val="246A70"/>
                </a:solidFill>
                <a:latin typeface="DejaVu Sans"/>
                <a:ea typeface="DejaVu Sans"/>
                <a:cs typeface="DejaVu Sans"/>
              </a:defRPr>
            </a:pPr>
            <a:r>
              <a:rPr sz="2250" b="1">
                <a:solidFill>
                  <a:srgbClr val="246A70"/>
                </a:solidFill>
                <a:latin typeface="DejaVu Sans"/>
                <a:ea typeface="DejaVu Sans"/>
                <a:cs typeface="DejaVu Sans"/>
              </a:rPr>
              <a:t>Grade 3 • Mathematics</a:t>
            </a:r>
          </a:p>
          <a:p xmlns:a="http://schemas.openxmlformats.org/drawingml/2006/main">
            <a:pPr>
              <a:defRPr sz="2250" b="1">
                <a:solidFill>
                  <a:srgbClr val="246A70"/>
                </a:solidFill>
                <a:latin typeface="DejaVu Sans"/>
                <a:ea typeface="DejaVu Sans"/>
                <a:cs typeface="DejaVu Sans"/>
              </a:defRPr>
            </a:pPr>
            <a:r>
              <a:rPr sz="2250" b="1">
                <a:solidFill>
                  <a:srgbClr val="246A70"/>
                </a:solidFill>
                <a:latin typeface="DejaVu Sans"/>
                <a:ea typeface="DejaVu Sans"/>
                <a:cs typeface="DejaVu Sans"/>
              </a:rPr>
              <a:t>NC.3.OA.3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C96F31C-2DDB-4ECF-824D-C3957FD0B2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8000" y="3743325"/>
            <a:ext cx="7953375" cy="1409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400" b="0">
                <a:solidFill>
                  <a:srgbClr val="172D46"/>
                </a:solidFill>
                <a:latin typeface="DejaVu Sans"/>
                <a:ea typeface="DejaVu Sans"/>
                <a:cs typeface="DejaVu Sans"/>
              </a:defRPr>
            </a:pPr>
            <a:r>
              <a:rPr sz="2400" b="0">
                <a:solidFill>
                  <a:srgbClr val="172D46"/>
                </a:solidFill>
                <a:latin typeface="DejaVu Sans"/>
                <a:ea typeface="DejaVu Sans"/>
                <a:cs typeface="DejaVu Sans"/>
              </a:rPr>
              <a:t>Connect equal groups, multiplication, and division.</a:t>
            </a:r>
          </a:p>
        </p:txBody>
      </p:sp>
    </p:spTree>
    <p:extLst>
      <p:ext uri="{BB962C8B-B14F-4D97-AF65-F5344CB8AC3E}">
        <p14:creationId xmlns:p14="http://schemas.microsoft.com/office/powerpoint/2010/main" val="856091592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389EBE7-0A3D-4F8A-B018-5D5E896685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47650"/>
            <a:ext cx="10477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246A70"/>
                </a:solidFill>
                <a:latin typeface="DejaVu Sans"/>
                <a:ea typeface="DejaVu Sans"/>
                <a:cs typeface="DejaVu Sans"/>
              </a:defRPr>
            </a:pPr>
            <a:r>
              <a:rPr sz="1350" b="1">
                <a:solidFill>
                  <a:srgbClr val="246A70"/>
                </a:solidFill>
                <a:latin typeface="DejaVu Sans"/>
                <a:ea typeface="DejaVu Sans"/>
                <a:cs typeface="DejaVu Sans"/>
              </a:rPr>
              <a:t>LEARN • EXPLAIN • CHECK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79B0C7A-0D14-47D9-A217-3E3D4C8E67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723900"/>
            <a:ext cx="10953750" cy="1123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225" b="1">
                <a:solidFill>
                  <a:srgbClr val="172D46"/>
                </a:solidFill>
                <a:latin typeface="DejaVu Sans"/>
                <a:ea typeface="DejaVu Sans"/>
                <a:cs typeface="DejaVu Sans"/>
              </a:defRPr>
            </a:pPr>
            <a:r>
              <a:rPr sz="3225" b="1">
                <a:solidFill>
                  <a:srgbClr val="172D46"/>
                </a:solidFill>
                <a:latin typeface="DejaVu Sans"/>
                <a:ea typeface="DejaVu Sans"/>
                <a:cs typeface="DejaVu Sans"/>
              </a:rPr>
              <a:t>What will a strong explanation show?</a:t>
            </a:r>
          </a:p>
        </p:txBody>
      </p:sp>
      <p:pic>
        <p:nvPicPr>
          <p:cNvPr id="9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7deacc391fb44d9"/>
          <a:stretch xmlns:a="http://schemas.openxmlformats.org/drawingml/2006/main"/>
        </p:blipFill>
        <p:spPr>
          <a:xfrm xmlns:a="http://schemas.openxmlformats.org/drawingml/2006/main">
            <a:off x="571500" y="6043613"/>
            <a:ext cx="590550" cy="590550"/>
          </a:xfrm>
          <a:prstGeom xmlns:a="http://schemas.openxmlformats.org/drawingml/2006/main" prst="rect">
            <a:avLst/>
          </a:prstGeom>
        </p:spPr>
      </p:pic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4794356-36C1-4BAE-BC54-0067FCC5B5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04925" y="6267450"/>
            <a:ext cx="90487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536574"/>
                </a:solidFill>
                <a:latin typeface="DejaVu Sans"/>
                <a:ea typeface="DejaVu Sans"/>
                <a:cs typeface="DejaVu Sans"/>
              </a:defRPr>
            </a:pPr>
            <a:r>
              <a:rPr sz="1200" b="0">
                <a:solidFill>
                  <a:srgbClr val="536574"/>
                </a:solidFill>
                <a:latin typeface="DejaVu Sans"/>
                <a:ea typeface="DejaVu Sans"/>
                <a:cs typeface="DejaVu Sans"/>
              </a:rPr>
              <a:t>© 2026 Saint Pierre Learning Resources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8A1FCDB-6EA9-4216-94A0-30C20CE988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257925"/>
            <a:ext cx="4762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536574"/>
                </a:solidFill>
                <a:latin typeface="DejaVu Sans"/>
                <a:ea typeface="DejaVu Sans"/>
                <a:cs typeface="DejaVu Sans"/>
              </a:defRPr>
            </a:pPr>
            <a:r>
              <a:rPr sz="1200" b="0">
                <a:solidFill>
                  <a:srgbClr val="536574"/>
                </a:solidFill>
                <a:latin typeface="DejaVu Sans"/>
                <a:ea typeface="DejaVu Sans"/>
                <a:cs typeface="DejaVu Sans"/>
              </a:rPr>
              <a:t>2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7E1D105-040F-48FC-AB2E-EB7649B11C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2238375"/>
            <a:ext cx="10858500" cy="3381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400" b="0">
                <a:solidFill>
                  <a:srgbClr val="172D46"/>
                </a:solidFill>
                <a:latin typeface="DejaVu Sans"/>
                <a:ea typeface="DejaVu Sans"/>
                <a:cs typeface="DejaVu Sans"/>
              </a:defRPr>
            </a:pPr>
            <a:r>
              <a:rPr sz="2400" b="0">
                <a:solidFill>
                  <a:srgbClr val="172D46"/>
                </a:solidFill>
                <a:latin typeface="DejaVu Sans"/>
                <a:ea typeface="DejaVu Sans"/>
                <a:cs typeface="DejaVu Sans"/>
              </a:rPr>
              <a:t>1. A model or equation that fits the quantities.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2400" b="0">
                <a:solidFill>
                  <a:srgbClr val="172D46"/>
                </a:solidFill>
                <a:latin typeface="DejaVu Sans"/>
                <a:ea typeface="DejaVu Sans"/>
                <a:cs typeface="DejaVu Sans"/>
              </a:defRPr>
            </a:pPr>
            <a:r>
              <a:rPr sz="2400" b="0">
                <a:solidFill>
                  <a:srgbClr val="172D46"/>
                </a:solidFill>
                <a:latin typeface="DejaVu Sans"/>
                <a:ea typeface="DejaVu Sans"/>
                <a:cs typeface="DejaVu Sans"/>
              </a:rPr>
              <a:t>2. Accurate calculation with appropriate units.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2400" b="0">
                <a:solidFill>
                  <a:srgbClr val="172D46"/>
                </a:solidFill>
                <a:latin typeface="DejaVu Sans"/>
                <a:ea typeface="DejaVu Sans"/>
                <a:cs typeface="DejaVu Sans"/>
              </a:defRPr>
            </a:pPr>
            <a:r>
              <a:rPr sz="2400" b="0">
                <a:solidFill>
                  <a:srgbClr val="172D46"/>
                </a:solidFill>
                <a:latin typeface="DejaVu Sans"/>
                <a:ea typeface="DejaVu Sans"/>
                <a:cs typeface="DejaVu Sans"/>
              </a:rPr>
              <a:t>3. A check that makes the answer reasonable.</a:t>
            </a:r>
          </a:p>
        </p:txBody>
      </p:sp>
    </p:spTree>
    <p:extLst>
      <p:ext uri="{BB962C8B-B14F-4D97-AF65-F5344CB8AC3E}">
        <p14:creationId xmlns:p14="http://schemas.microsoft.com/office/powerpoint/2010/main" val="1321883644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90D24AE-60E5-4D6C-94AE-AEF049E421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47650"/>
            <a:ext cx="10477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246A70"/>
                </a:solidFill>
                <a:latin typeface="DejaVu Sans"/>
                <a:ea typeface="DejaVu Sans"/>
                <a:cs typeface="DejaVu Sans"/>
              </a:defRPr>
            </a:pPr>
            <a:r>
              <a:rPr sz="1350" b="1">
                <a:solidFill>
                  <a:srgbClr val="246A70"/>
                </a:solidFill>
                <a:latin typeface="DejaVu Sans"/>
                <a:ea typeface="DejaVu Sans"/>
                <a:cs typeface="DejaVu Sans"/>
              </a:rPr>
              <a:t>LEARN • EXPLAIN • CHECK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8B8BDD9-F5C3-44C8-9CDA-A3B9EEB2BF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723900"/>
            <a:ext cx="10953750" cy="1123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225" b="1">
                <a:solidFill>
                  <a:srgbClr val="172D46"/>
                </a:solidFill>
                <a:latin typeface="DejaVu Sans"/>
                <a:ea typeface="DejaVu Sans"/>
                <a:cs typeface="DejaVu Sans"/>
              </a:defRPr>
            </a:pPr>
            <a:r>
              <a:rPr sz="3225" b="1">
                <a:solidFill>
                  <a:srgbClr val="172D46"/>
                </a:solidFill>
                <a:latin typeface="DejaVu Sans"/>
                <a:ea typeface="DejaVu Sans"/>
                <a:cs typeface="DejaVu Sans"/>
              </a:rPr>
              <a:t>Watch the reasoning</a:t>
            </a:r>
          </a:p>
        </p:txBody>
      </p:sp>
      <p:pic>
        <p:nvPicPr>
          <p:cNvPr id="10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6abb91bdd0a4ac0"/>
          <a:stretch xmlns:a="http://schemas.openxmlformats.org/drawingml/2006/main"/>
        </p:blipFill>
        <p:spPr>
          <a:xfrm xmlns:a="http://schemas.openxmlformats.org/drawingml/2006/main">
            <a:off x="571500" y="6043613"/>
            <a:ext cx="590550" cy="590550"/>
          </a:xfrm>
          <a:prstGeom xmlns:a="http://schemas.openxmlformats.org/drawingml/2006/main" prst="rect">
            <a:avLst/>
          </a:prstGeom>
        </p:spPr>
      </p:pic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9D1D963-CCFE-4C60-82CC-8E1544578C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04925" y="6267450"/>
            <a:ext cx="90487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536574"/>
                </a:solidFill>
                <a:latin typeface="DejaVu Sans"/>
                <a:ea typeface="DejaVu Sans"/>
                <a:cs typeface="DejaVu Sans"/>
              </a:defRPr>
            </a:pPr>
            <a:r>
              <a:rPr sz="1200" b="0">
                <a:solidFill>
                  <a:srgbClr val="536574"/>
                </a:solidFill>
                <a:latin typeface="DejaVu Sans"/>
                <a:ea typeface="DejaVu Sans"/>
                <a:cs typeface="DejaVu Sans"/>
              </a:rPr>
              <a:t>© 2026 Saint Pierre Learning Resources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C2A123F-F65A-4DCB-80BD-C5353D0BE7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257925"/>
            <a:ext cx="4762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536574"/>
                </a:solidFill>
                <a:latin typeface="DejaVu Sans"/>
                <a:ea typeface="DejaVu Sans"/>
                <a:cs typeface="DejaVu Sans"/>
              </a:defRPr>
            </a:pPr>
            <a:r>
              <a:rPr sz="1200" b="0">
                <a:solidFill>
                  <a:srgbClr val="536574"/>
                </a:solidFill>
                <a:latin typeface="DejaVu Sans"/>
                <a:ea typeface="DejaVu Sans"/>
                <a:cs typeface="DejaVu Sans"/>
              </a:rPr>
              <a:t>3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16B618F-7D7C-40A1-BA01-FDF4AFC40B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2133600"/>
            <a:ext cx="10858500" cy="1666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75" b="1">
                <a:solidFill>
                  <a:srgbClr val="172D46"/>
                </a:solidFill>
                <a:latin typeface="DejaVu Sans"/>
                <a:ea typeface="DejaVu Sans"/>
                <a:cs typeface="DejaVu Sans"/>
              </a:defRPr>
            </a:pPr>
            <a:r>
              <a:rPr sz="2175" b="1">
                <a:solidFill>
                  <a:srgbClr val="172D46"/>
                </a:solidFill>
                <a:latin typeface="DejaVu Sans"/>
                <a:ea typeface="DejaVu Sans"/>
                <a:cs typeface="DejaVu Sans"/>
              </a:rPr>
              <a:t>The science club fills 3 folders with 4 cards each. How many cards are there altogether? Draw equal groups and write an equation.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299B8C8-384B-4674-95BA-CB5571099B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4162425"/>
            <a:ext cx="10858500" cy="1352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75" b="0">
                <a:solidFill>
                  <a:srgbClr val="246A70"/>
                </a:solidFill>
                <a:latin typeface="DejaVu Sans"/>
                <a:ea typeface="DejaVu Sans"/>
                <a:cs typeface="DejaVu Sans"/>
              </a:defRPr>
            </a:pPr>
            <a:r>
              <a:rPr sz="2175" b="0">
                <a:solidFill>
                  <a:srgbClr val="246A70"/>
                </a:solidFill>
                <a:latin typeface="DejaVu Sans"/>
                <a:ea typeface="DejaVu Sans"/>
                <a:cs typeface="DejaVu Sans"/>
              </a:rPr>
              <a:t>3 × 4 = 12; add 4 a total of 3 times.</a:t>
            </a:r>
          </a:p>
        </p:txBody>
      </p:sp>
    </p:spTree>
    <p:extLst>
      <p:ext uri="{BB962C8B-B14F-4D97-AF65-F5344CB8AC3E}">
        <p14:creationId xmlns:p14="http://schemas.microsoft.com/office/powerpoint/2010/main" val="671532459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F605F4A-7B68-41DB-BC07-CADD9A2AEA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47650"/>
            <a:ext cx="10477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246A70"/>
                </a:solidFill>
                <a:latin typeface="DejaVu Sans"/>
                <a:ea typeface="DejaVu Sans"/>
                <a:cs typeface="DejaVu Sans"/>
              </a:defRPr>
            </a:pPr>
            <a:r>
              <a:rPr sz="1350" b="1">
                <a:solidFill>
                  <a:srgbClr val="246A70"/>
                </a:solidFill>
                <a:latin typeface="DejaVu Sans"/>
                <a:ea typeface="DejaVu Sans"/>
                <a:cs typeface="DejaVu Sans"/>
              </a:rPr>
              <a:t>LEARN • EXPLAIN • CHECK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D1011A2-5256-4D7D-B2CC-46EA088D1E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723900"/>
            <a:ext cx="10953750" cy="1123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225" b="1">
                <a:solidFill>
                  <a:srgbClr val="172D46"/>
                </a:solidFill>
                <a:latin typeface="DejaVu Sans"/>
                <a:ea typeface="DejaVu Sans"/>
                <a:cs typeface="DejaVu Sans"/>
              </a:defRPr>
            </a:pPr>
            <a:r>
              <a:rPr sz="3225" b="1">
                <a:solidFill>
                  <a:srgbClr val="172D46"/>
                </a:solidFill>
                <a:latin typeface="DejaVu Sans"/>
                <a:ea typeface="DejaVu Sans"/>
                <a:cs typeface="DejaVu Sans"/>
              </a:rPr>
              <a:t>Build a second model together</a:t>
            </a:r>
          </a:p>
        </p:txBody>
      </p:sp>
      <p:pic>
        <p:nvPicPr>
          <p:cNvPr id="10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5951d8a4a9645f7"/>
          <a:stretch xmlns:a="http://schemas.openxmlformats.org/drawingml/2006/main"/>
        </p:blipFill>
        <p:spPr>
          <a:xfrm xmlns:a="http://schemas.openxmlformats.org/drawingml/2006/main">
            <a:off x="571500" y="6043613"/>
            <a:ext cx="590550" cy="590550"/>
          </a:xfrm>
          <a:prstGeom xmlns:a="http://schemas.openxmlformats.org/drawingml/2006/main" prst="rect">
            <a:avLst/>
          </a:prstGeom>
        </p:spPr>
      </p:pic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7984D28-F9BE-4560-BBCD-8A197D73AE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04925" y="6267450"/>
            <a:ext cx="90487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536574"/>
                </a:solidFill>
                <a:latin typeface="DejaVu Sans"/>
                <a:ea typeface="DejaVu Sans"/>
                <a:cs typeface="DejaVu Sans"/>
              </a:defRPr>
            </a:pPr>
            <a:r>
              <a:rPr sz="1200" b="0">
                <a:solidFill>
                  <a:srgbClr val="536574"/>
                </a:solidFill>
                <a:latin typeface="DejaVu Sans"/>
                <a:ea typeface="DejaVu Sans"/>
                <a:cs typeface="DejaVu Sans"/>
              </a:rPr>
              <a:t>© 2026 Saint Pierre Learning Resources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4056E2B-8D04-4A82-A3FA-D93D4E87EB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257925"/>
            <a:ext cx="4762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536574"/>
                </a:solidFill>
                <a:latin typeface="DejaVu Sans"/>
                <a:ea typeface="DejaVu Sans"/>
                <a:cs typeface="DejaVu Sans"/>
              </a:defRPr>
            </a:pPr>
            <a:r>
              <a:rPr sz="1200" b="0">
                <a:solidFill>
                  <a:srgbClr val="536574"/>
                </a:solidFill>
                <a:latin typeface="DejaVu Sans"/>
                <a:ea typeface="DejaVu Sans"/>
                <a:cs typeface="DejaVu Sans"/>
              </a:rPr>
              <a:t>4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BAF2DC9-FCAB-450D-89C6-6C34F5782F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2076450"/>
            <a:ext cx="10858500" cy="2095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172D46"/>
                </a:solidFill>
                <a:latin typeface="DejaVu Sans"/>
                <a:ea typeface="DejaVu Sans"/>
                <a:cs typeface="DejaVu Sans"/>
              </a:defRPr>
            </a:pPr>
            <a:r>
              <a:rPr sz="2250" b="0">
                <a:solidFill>
                  <a:srgbClr val="172D46"/>
                </a:solidFill>
                <a:latin typeface="DejaVu Sans"/>
                <a:ea typeface="DejaVu Sans"/>
                <a:cs typeface="DejaVu Sans"/>
              </a:rPr>
              <a:t>The art club places 72 cards equally into 9 folders. How many cards go in each folder? Draw a model and write an equation.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39326D2-1590-4F25-89D2-D267D0BC8D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4857750"/>
            <a:ext cx="108585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00" b="1">
                <a:solidFill>
                  <a:srgbClr val="246A70"/>
                </a:solidFill>
                <a:latin typeface="DejaVu Sans"/>
                <a:ea typeface="DejaVu Sans"/>
                <a:cs typeface="DejaVu Sans"/>
              </a:defRPr>
            </a:pPr>
            <a:r>
              <a:rPr sz="2100" b="1">
                <a:solidFill>
                  <a:srgbClr val="246A70"/>
                </a:solidFill>
                <a:latin typeface="DejaVu Sans"/>
                <a:ea typeface="DejaVu Sans"/>
                <a:cs typeface="DejaVu Sans"/>
              </a:rPr>
              <a:t>Discuss: What should the first step find?</a:t>
            </a:r>
          </a:p>
        </p:txBody>
      </p:sp>
    </p:spTree>
    <p:extLst>
      <p:ext uri="{BB962C8B-B14F-4D97-AF65-F5344CB8AC3E}">
        <p14:creationId xmlns:p14="http://schemas.microsoft.com/office/powerpoint/2010/main" val="2002021154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87D84BE-D203-413A-AC6B-E830EE3F73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47650"/>
            <a:ext cx="10477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246A70"/>
                </a:solidFill>
                <a:latin typeface="DejaVu Sans"/>
                <a:ea typeface="DejaVu Sans"/>
                <a:cs typeface="DejaVu Sans"/>
              </a:defRPr>
            </a:pPr>
            <a:r>
              <a:rPr sz="1350" b="1">
                <a:solidFill>
                  <a:srgbClr val="246A70"/>
                </a:solidFill>
                <a:latin typeface="DejaVu Sans"/>
                <a:ea typeface="DejaVu Sans"/>
                <a:cs typeface="DejaVu Sans"/>
              </a:rPr>
              <a:t>LEARN • EXPLAIN • CHECK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F032550-6A3A-4639-842F-B2E8EBAFAF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723900"/>
            <a:ext cx="10953750" cy="1123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225" b="1">
                <a:solidFill>
                  <a:srgbClr val="172D46"/>
                </a:solidFill>
                <a:latin typeface="DejaVu Sans"/>
                <a:ea typeface="DejaVu Sans"/>
                <a:cs typeface="DejaVu Sans"/>
              </a:defRPr>
            </a:pPr>
            <a:r>
              <a:rPr sz="3225" b="1">
                <a:solidFill>
                  <a:srgbClr val="172D46"/>
                </a:solidFill>
                <a:latin typeface="DejaVu Sans"/>
                <a:ea typeface="DejaVu Sans"/>
                <a:cs typeface="DejaVu Sans"/>
              </a:rPr>
              <a:t>Your turn • 1</a:t>
            </a:r>
          </a:p>
        </p:txBody>
      </p:sp>
      <p:pic>
        <p:nvPicPr>
          <p:cNvPr id="10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7173e1875ca4ba3"/>
          <a:stretch xmlns:a="http://schemas.openxmlformats.org/drawingml/2006/main"/>
        </p:blipFill>
        <p:spPr>
          <a:xfrm xmlns:a="http://schemas.openxmlformats.org/drawingml/2006/main">
            <a:off x="571500" y="6043613"/>
            <a:ext cx="590550" cy="590550"/>
          </a:xfrm>
          <a:prstGeom xmlns:a="http://schemas.openxmlformats.org/drawingml/2006/main" prst="rect">
            <a:avLst/>
          </a:prstGeom>
        </p:spPr>
      </p:pic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8B73831-B7D1-4D03-A818-9C56A4E72B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04925" y="6267450"/>
            <a:ext cx="90487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536574"/>
                </a:solidFill>
                <a:latin typeface="DejaVu Sans"/>
                <a:ea typeface="DejaVu Sans"/>
                <a:cs typeface="DejaVu Sans"/>
              </a:defRPr>
            </a:pPr>
            <a:r>
              <a:rPr sz="1200" b="0">
                <a:solidFill>
                  <a:srgbClr val="536574"/>
                </a:solidFill>
                <a:latin typeface="DejaVu Sans"/>
                <a:ea typeface="DejaVu Sans"/>
                <a:cs typeface="DejaVu Sans"/>
              </a:rPr>
              <a:t>© 2026 Saint Pierre Learning Resources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8B32B08-8329-4AF4-A738-B7E18436B5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257925"/>
            <a:ext cx="4762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536574"/>
                </a:solidFill>
                <a:latin typeface="DejaVu Sans"/>
                <a:ea typeface="DejaVu Sans"/>
                <a:cs typeface="DejaVu Sans"/>
              </a:defRPr>
            </a:pPr>
            <a:r>
              <a:rPr sz="1200" b="0">
                <a:solidFill>
                  <a:srgbClr val="536574"/>
                </a:solidFill>
                <a:latin typeface="DejaVu Sans"/>
                <a:ea typeface="DejaVu Sans"/>
                <a:cs typeface="DejaVu Sans"/>
              </a:rPr>
              <a:t>5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CC01FCB-5EC8-491F-BF32-383C72B191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2162175"/>
            <a:ext cx="10810875" cy="2400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475" b="0">
                <a:solidFill>
                  <a:srgbClr val="172D46"/>
                </a:solidFill>
                <a:latin typeface="DejaVu Sans"/>
                <a:ea typeface="DejaVu Sans"/>
                <a:cs typeface="DejaVu Sans"/>
              </a:defRPr>
            </a:pPr>
            <a:r>
              <a:rPr sz="2475" b="0">
                <a:solidFill>
                  <a:srgbClr val="172D46"/>
                </a:solidFill>
                <a:latin typeface="DejaVu Sans"/>
                <a:ea typeface="DejaVu Sans"/>
                <a:cs typeface="DejaVu Sans"/>
              </a:rPr>
              <a:t>The reading group fills 3 folders with 5 cards each. How many cards are there altogether? Draw equal groups and write an equation.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4C8C3CC-480A-4F0E-B560-52EE1651E0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5172075"/>
            <a:ext cx="105727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025" b="1">
                <a:solidFill>
                  <a:srgbClr val="246A70"/>
                </a:solidFill>
                <a:latin typeface="DejaVu Sans"/>
                <a:ea typeface="DejaVu Sans"/>
                <a:cs typeface="DejaVu Sans"/>
              </a:defRPr>
            </a:pPr>
            <a:r>
              <a:rPr sz="2025" b="1">
                <a:solidFill>
                  <a:srgbClr val="246A70"/>
                </a:solidFill>
                <a:latin typeface="DejaVu Sans"/>
                <a:ea typeface="DejaVu Sans"/>
                <a:cs typeface="DejaVu Sans"/>
              </a:rPr>
              <a:t>Represent → solve → explain → check</a:t>
            </a:r>
          </a:p>
        </p:txBody>
      </p:sp>
    </p:spTree>
    <p:extLst>
      <p:ext uri="{BB962C8B-B14F-4D97-AF65-F5344CB8AC3E}">
        <p14:creationId xmlns:p14="http://schemas.microsoft.com/office/powerpoint/2010/main" val="1276628517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0A1F6F3-3EE3-4C9E-BDB9-DE76DB3B00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47650"/>
            <a:ext cx="10477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246A70"/>
                </a:solidFill>
                <a:latin typeface="DejaVu Sans"/>
                <a:ea typeface="DejaVu Sans"/>
                <a:cs typeface="DejaVu Sans"/>
              </a:defRPr>
            </a:pPr>
            <a:r>
              <a:rPr sz="1350" b="1">
                <a:solidFill>
                  <a:srgbClr val="246A70"/>
                </a:solidFill>
                <a:latin typeface="DejaVu Sans"/>
                <a:ea typeface="DejaVu Sans"/>
                <a:cs typeface="DejaVu Sans"/>
              </a:rPr>
              <a:t>LEARN • EXPLAIN • CHECK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7A5FA53-17D1-41E4-A9FF-85BEB0DFE6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723900"/>
            <a:ext cx="10953750" cy="1123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225" b="1">
                <a:solidFill>
                  <a:srgbClr val="172D46"/>
                </a:solidFill>
                <a:latin typeface="DejaVu Sans"/>
                <a:ea typeface="DejaVu Sans"/>
                <a:cs typeface="DejaVu Sans"/>
              </a:defRPr>
            </a:pPr>
            <a:r>
              <a:rPr sz="3225" b="1">
                <a:solidFill>
                  <a:srgbClr val="172D46"/>
                </a:solidFill>
                <a:latin typeface="DejaVu Sans"/>
                <a:ea typeface="DejaVu Sans"/>
                <a:cs typeface="DejaVu Sans"/>
              </a:rPr>
              <a:t>Your turn • 2</a:t>
            </a:r>
          </a:p>
        </p:txBody>
      </p:sp>
      <p:pic>
        <p:nvPicPr>
          <p:cNvPr id="10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4deb3a7817e4fda"/>
          <a:stretch xmlns:a="http://schemas.openxmlformats.org/drawingml/2006/main"/>
        </p:blipFill>
        <p:spPr>
          <a:xfrm xmlns:a="http://schemas.openxmlformats.org/drawingml/2006/main">
            <a:off x="571500" y="6043613"/>
            <a:ext cx="590550" cy="590550"/>
          </a:xfrm>
          <a:prstGeom xmlns:a="http://schemas.openxmlformats.org/drawingml/2006/main" prst="rect">
            <a:avLst/>
          </a:prstGeom>
        </p:spPr>
      </p:pic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700DC4D-4E3A-4B1C-8B65-AC058116E2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04925" y="6267450"/>
            <a:ext cx="90487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536574"/>
                </a:solidFill>
                <a:latin typeface="DejaVu Sans"/>
                <a:ea typeface="DejaVu Sans"/>
                <a:cs typeface="DejaVu Sans"/>
              </a:defRPr>
            </a:pPr>
            <a:r>
              <a:rPr sz="1200" b="0">
                <a:solidFill>
                  <a:srgbClr val="536574"/>
                </a:solidFill>
                <a:latin typeface="DejaVu Sans"/>
                <a:ea typeface="DejaVu Sans"/>
                <a:cs typeface="DejaVu Sans"/>
              </a:rPr>
              <a:t>© 2026 Saint Pierre Learning Resources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4ED7EE2-AB95-4935-8BE5-CE2366AE8F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257925"/>
            <a:ext cx="4762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536574"/>
                </a:solidFill>
                <a:latin typeface="DejaVu Sans"/>
                <a:ea typeface="DejaVu Sans"/>
                <a:cs typeface="DejaVu Sans"/>
              </a:defRPr>
            </a:pPr>
            <a:r>
              <a:rPr sz="1200" b="0">
                <a:solidFill>
                  <a:srgbClr val="536574"/>
                </a:solidFill>
                <a:latin typeface="DejaVu Sans"/>
                <a:ea typeface="DejaVu Sans"/>
                <a:cs typeface="DejaVu Sans"/>
              </a:rPr>
              <a:t>6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C69C00A-B074-495F-A363-A3A228E908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2162175"/>
            <a:ext cx="10810875" cy="2400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475" b="0">
                <a:solidFill>
                  <a:srgbClr val="172D46"/>
                </a:solidFill>
                <a:latin typeface="DejaVu Sans"/>
                <a:ea typeface="DejaVu Sans"/>
                <a:cs typeface="DejaVu Sans"/>
              </a:defRPr>
            </a:pPr>
            <a:r>
              <a:rPr sz="2475" b="0">
                <a:solidFill>
                  <a:srgbClr val="172D46"/>
                </a:solidFill>
                <a:latin typeface="DejaVu Sans"/>
                <a:ea typeface="DejaVu Sans"/>
                <a:cs typeface="DejaVu Sans"/>
              </a:rPr>
              <a:t>The music club places 18 cards equally into 6 folders. How many cards go in each folder? Draw a model and write an equation.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9D22B73-6973-43DA-85CF-6CC4EBFF09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5172075"/>
            <a:ext cx="105727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025" b="1">
                <a:solidFill>
                  <a:srgbClr val="246A70"/>
                </a:solidFill>
                <a:latin typeface="DejaVu Sans"/>
                <a:ea typeface="DejaVu Sans"/>
                <a:cs typeface="DejaVu Sans"/>
              </a:defRPr>
            </a:pPr>
            <a:r>
              <a:rPr sz="2025" b="1">
                <a:solidFill>
                  <a:srgbClr val="246A70"/>
                </a:solidFill>
                <a:latin typeface="DejaVu Sans"/>
                <a:ea typeface="DejaVu Sans"/>
                <a:cs typeface="DejaVu Sans"/>
              </a:rPr>
              <a:t>Represent → solve → explain → check</a:t>
            </a:r>
          </a:p>
        </p:txBody>
      </p:sp>
    </p:spTree>
    <p:extLst>
      <p:ext uri="{BB962C8B-B14F-4D97-AF65-F5344CB8AC3E}">
        <p14:creationId xmlns:p14="http://schemas.microsoft.com/office/powerpoint/2010/main" val="1872193960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33A6D51-1C6F-432B-AB5B-051B0FC4FF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47650"/>
            <a:ext cx="10477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246A70"/>
                </a:solidFill>
                <a:latin typeface="DejaVu Sans"/>
                <a:ea typeface="DejaVu Sans"/>
                <a:cs typeface="DejaVu Sans"/>
              </a:defRPr>
            </a:pPr>
            <a:r>
              <a:rPr sz="1350" b="1">
                <a:solidFill>
                  <a:srgbClr val="246A70"/>
                </a:solidFill>
                <a:latin typeface="DejaVu Sans"/>
                <a:ea typeface="DejaVu Sans"/>
                <a:cs typeface="DejaVu Sans"/>
              </a:rPr>
              <a:t>LEARN • EXPLAIN • CHECK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FB194C2-FE98-4C1C-A4B3-B2E5F12F11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723900"/>
            <a:ext cx="10953750" cy="1123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225" b="1">
                <a:solidFill>
                  <a:srgbClr val="172D46"/>
                </a:solidFill>
                <a:latin typeface="DejaVu Sans"/>
                <a:ea typeface="DejaVu Sans"/>
                <a:cs typeface="DejaVu Sans"/>
              </a:defRPr>
            </a:pPr>
            <a:r>
              <a:rPr sz="3225" b="1">
                <a:solidFill>
                  <a:srgbClr val="172D46"/>
                </a:solidFill>
                <a:latin typeface="DejaVu Sans"/>
                <a:ea typeface="DejaVu Sans"/>
                <a:cs typeface="DejaVu Sans"/>
              </a:rPr>
              <a:t>Your turn • 3</a:t>
            </a:r>
          </a:p>
        </p:txBody>
      </p:sp>
      <p:pic>
        <p:nvPicPr>
          <p:cNvPr id="10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f382a61b89040f8"/>
          <a:stretch xmlns:a="http://schemas.openxmlformats.org/drawingml/2006/main"/>
        </p:blipFill>
        <p:spPr>
          <a:xfrm xmlns:a="http://schemas.openxmlformats.org/drawingml/2006/main">
            <a:off x="571500" y="6043613"/>
            <a:ext cx="590550" cy="590550"/>
          </a:xfrm>
          <a:prstGeom xmlns:a="http://schemas.openxmlformats.org/drawingml/2006/main" prst="rect">
            <a:avLst/>
          </a:prstGeom>
        </p:spPr>
      </p:pic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24C24F5-5E57-4CF2-B535-49C1359E99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04925" y="6267450"/>
            <a:ext cx="90487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536574"/>
                </a:solidFill>
                <a:latin typeface="DejaVu Sans"/>
                <a:ea typeface="DejaVu Sans"/>
                <a:cs typeface="DejaVu Sans"/>
              </a:defRPr>
            </a:pPr>
            <a:r>
              <a:rPr sz="1200" b="0">
                <a:solidFill>
                  <a:srgbClr val="536574"/>
                </a:solidFill>
                <a:latin typeface="DejaVu Sans"/>
                <a:ea typeface="DejaVu Sans"/>
                <a:cs typeface="DejaVu Sans"/>
              </a:rPr>
              <a:t>© 2026 Saint Pierre Learning Resources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B1EEAD9-37E9-455B-AE8D-0E84AD6061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257925"/>
            <a:ext cx="4762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536574"/>
                </a:solidFill>
                <a:latin typeface="DejaVu Sans"/>
                <a:ea typeface="DejaVu Sans"/>
                <a:cs typeface="DejaVu Sans"/>
              </a:defRPr>
            </a:pPr>
            <a:r>
              <a:rPr sz="1200" b="0">
                <a:solidFill>
                  <a:srgbClr val="536574"/>
                </a:solidFill>
                <a:latin typeface="DejaVu Sans"/>
                <a:ea typeface="DejaVu Sans"/>
                <a:cs typeface="DejaVu Sans"/>
              </a:rPr>
              <a:t>7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20E46B2-FD4C-4F1A-A244-F4493D81AD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2162175"/>
            <a:ext cx="10810875" cy="2400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475" b="0">
                <a:solidFill>
                  <a:srgbClr val="172D46"/>
                </a:solidFill>
                <a:latin typeface="DejaVu Sans"/>
                <a:ea typeface="DejaVu Sans"/>
                <a:cs typeface="DejaVu Sans"/>
              </a:defRPr>
            </a:pPr>
            <a:r>
              <a:rPr sz="2475" b="0">
                <a:solidFill>
                  <a:srgbClr val="172D46"/>
                </a:solidFill>
                <a:latin typeface="DejaVu Sans"/>
                <a:ea typeface="DejaVu Sans"/>
                <a:cs typeface="DejaVu Sans"/>
              </a:rPr>
              <a:t>The music club fills 8 folders with 4 cards each. How many cards are there altogether? Draw equal groups and write an equation.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435C68F-EF62-49AA-8E01-B8F49346D3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5172075"/>
            <a:ext cx="105727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025" b="1">
                <a:solidFill>
                  <a:srgbClr val="246A70"/>
                </a:solidFill>
                <a:latin typeface="DejaVu Sans"/>
                <a:ea typeface="DejaVu Sans"/>
                <a:cs typeface="DejaVu Sans"/>
              </a:defRPr>
            </a:pPr>
            <a:r>
              <a:rPr sz="2025" b="1">
                <a:solidFill>
                  <a:srgbClr val="246A70"/>
                </a:solidFill>
                <a:latin typeface="DejaVu Sans"/>
                <a:ea typeface="DejaVu Sans"/>
                <a:cs typeface="DejaVu Sans"/>
              </a:rPr>
              <a:t>Represent → solve → explain → check</a:t>
            </a:r>
          </a:p>
        </p:txBody>
      </p:sp>
    </p:spTree>
    <p:extLst>
      <p:ext uri="{BB962C8B-B14F-4D97-AF65-F5344CB8AC3E}">
        <p14:creationId xmlns:p14="http://schemas.microsoft.com/office/powerpoint/2010/main" val="47566914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737DE30-D4EF-4FEC-BBAD-B14DC9362F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47650"/>
            <a:ext cx="10477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246A70"/>
                </a:solidFill>
                <a:latin typeface="DejaVu Sans"/>
                <a:ea typeface="DejaVu Sans"/>
                <a:cs typeface="DejaVu Sans"/>
              </a:defRPr>
            </a:pPr>
            <a:r>
              <a:rPr sz="1350" b="1">
                <a:solidFill>
                  <a:srgbClr val="246A70"/>
                </a:solidFill>
                <a:latin typeface="DejaVu Sans"/>
                <a:ea typeface="DejaVu Sans"/>
                <a:cs typeface="DejaVu Sans"/>
              </a:rPr>
              <a:t>LEARN • EXPLAIN • CHECK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D6CFD78-B008-4D40-A14A-70C57ADF7D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723900"/>
            <a:ext cx="10953750" cy="1123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225" b="1">
                <a:solidFill>
                  <a:srgbClr val="172D46"/>
                </a:solidFill>
                <a:latin typeface="DejaVu Sans"/>
                <a:ea typeface="DejaVu Sans"/>
                <a:cs typeface="DejaVu Sans"/>
              </a:defRPr>
            </a:pPr>
            <a:r>
              <a:rPr sz="3225" b="1">
                <a:solidFill>
                  <a:srgbClr val="172D46"/>
                </a:solidFill>
                <a:latin typeface="DejaVu Sans"/>
                <a:ea typeface="DejaVu Sans"/>
                <a:cs typeface="DejaVu Sans"/>
              </a:rPr>
              <a:t>Your turn • 4</a:t>
            </a:r>
          </a:p>
        </p:txBody>
      </p:sp>
      <p:pic>
        <p:nvPicPr>
          <p:cNvPr id="10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ac05bb0855e4928"/>
          <a:stretch xmlns:a="http://schemas.openxmlformats.org/drawingml/2006/main"/>
        </p:blipFill>
        <p:spPr>
          <a:xfrm xmlns:a="http://schemas.openxmlformats.org/drawingml/2006/main">
            <a:off x="571500" y="6043613"/>
            <a:ext cx="590550" cy="590550"/>
          </a:xfrm>
          <a:prstGeom xmlns:a="http://schemas.openxmlformats.org/drawingml/2006/main" prst="rect">
            <a:avLst/>
          </a:prstGeom>
        </p:spPr>
      </p:pic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10E2246-9B1C-4BAA-98F5-424A7FF77C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04925" y="6267450"/>
            <a:ext cx="90487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536574"/>
                </a:solidFill>
                <a:latin typeface="DejaVu Sans"/>
                <a:ea typeface="DejaVu Sans"/>
                <a:cs typeface="DejaVu Sans"/>
              </a:defRPr>
            </a:pPr>
            <a:r>
              <a:rPr sz="1200" b="0">
                <a:solidFill>
                  <a:srgbClr val="536574"/>
                </a:solidFill>
                <a:latin typeface="DejaVu Sans"/>
                <a:ea typeface="DejaVu Sans"/>
                <a:cs typeface="DejaVu Sans"/>
              </a:rPr>
              <a:t>© 2026 Saint Pierre Learning Resources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C06BED7-5987-4B72-905D-9AA08F4D08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257925"/>
            <a:ext cx="4762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536574"/>
                </a:solidFill>
                <a:latin typeface="DejaVu Sans"/>
                <a:ea typeface="DejaVu Sans"/>
                <a:cs typeface="DejaVu Sans"/>
              </a:defRPr>
            </a:pPr>
            <a:r>
              <a:rPr sz="1200" b="0">
                <a:solidFill>
                  <a:srgbClr val="536574"/>
                </a:solidFill>
                <a:latin typeface="DejaVu Sans"/>
                <a:ea typeface="DejaVu Sans"/>
                <a:cs typeface="DejaVu Sans"/>
              </a:rPr>
              <a:t>8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679DB0A-8B7A-4207-9310-BC44F5E47C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2162175"/>
            <a:ext cx="10810875" cy="2400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475" b="0">
                <a:solidFill>
                  <a:srgbClr val="172D46"/>
                </a:solidFill>
                <a:latin typeface="DejaVu Sans"/>
                <a:ea typeface="DejaVu Sans"/>
                <a:cs typeface="DejaVu Sans"/>
              </a:defRPr>
            </a:pPr>
            <a:r>
              <a:rPr sz="2475" b="0">
                <a:solidFill>
                  <a:srgbClr val="172D46"/>
                </a:solidFill>
                <a:latin typeface="DejaVu Sans"/>
                <a:ea typeface="DejaVu Sans"/>
                <a:cs typeface="DejaVu Sans"/>
              </a:rPr>
              <a:t>The library team places 49 cards equally into 7 folders. How many cards go in each folder? Draw a model and write an equation.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F0201A5-E136-489D-B2C9-A4EA151726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5172075"/>
            <a:ext cx="105727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025" b="1">
                <a:solidFill>
                  <a:srgbClr val="246A70"/>
                </a:solidFill>
                <a:latin typeface="DejaVu Sans"/>
                <a:ea typeface="DejaVu Sans"/>
                <a:cs typeface="DejaVu Sans"/>
              </a:defRPr>
            </a:pPr>
            <a:r>
              <a:rPr sz="2025" b="1">
                <a:solidFill>
                  <a:srgbClr val="246A70"/>
                </a:solidFill>
                <a:latin typeface="DejaVu Sans"/>
                <a:ea typeface="DejaVu Sans"/>
                <a:cs typeface="DejaVu Sans"/>
              </a:rPr>
              <a:t>Represent → solve → explain → check</a:t>
            </a:r>
          </a:p>
        </p:txBody>
      </p:sp>
    </p:spTree>
    <p:extLst>
      <p:ext uri="{BB962C8B-B14F-4D97-AF65-F5344CB8AC3E}">
        <p14:creationId xmlns:p14="http://schemas.microsoft.com/office/powerpoint/2010/main" val="374935798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CDCF9F3-BF9D-402F-85A6-2E5677C7C3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47650"/>
            <a:ext cx="10477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246A70"/>
                </a:solidFill>
                <a:latin typeface="DejaVu Sans"/>
                <a:ea typeface="DejaVu Sans"/>
                <a:cs typeface="DejaVu Sans"/>
              </a:defRPr>
            </a:pPr>
            <a:r>
              <a:rPr sz="1350" b="1">
                <a:solidFill>
                  <a:srgbClr val="246A70"/>
                </a:solidFill>
                <a:latin typeface="DejaVu Sans"/>
                <a:ea typeface="DejaVu Sans"/>
                <a:cs typeface="DejaVu Sans"/>
              </a:rPr>
              <a:t>LEARN • EXPLAIN • CHECK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E62FAA8-80AF-42C3-A20D-71B97D91BA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723900"/>
            <a:ext cx="10953750" cy="1123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225" b="1">
                <a:solidFill>
                  <a:srgbClr val="172D46"/>
                </a:solidFill>
                <a:latin typeface="DejaVu Sans"/>
                <a:ea typeface="DejaVu Sans"/>
                <a:cs typeface="DejaVu Sans"/>
              </a:defRPr>
            </a:pPr>
            <a:r>
              <a:rPr sz="3225" b="1">
                <a:solidFill>
                  <a:srgbClr val="172D46"/>
                </a:solidFill>
                <a:latin typeface="DejaVu Sans"/>
                <a:ea typeface="DejaVu Sans"/>
                <a:cs typeface="DejaVu Sans"/>
              </a:rPr>
              <a:t>Exit question • Explain independently</a:t>
            </a:r>
          </a:p>
        </p:txBody>
      </p:sp>
      <p:pic>
        <p:nvPicPr>
          <p:cNvPr id="10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dbfe077e7ce4226"/>
          <a:stretch xmlns:a="http://schemas.openxmlformats.org/drawingml/2006/main"/>
        </p:blipFill>
        <p:spPr>
          <a:xfrm xmlns:a="http://schemas.openxmlformats.org/drawingml/2006/main">
            <a:off x="571500" y="6043613"/>
            <a:ext cx="590550" cy="590550"/>
          </a:xfrm>
          <a:prstGeom xmlns:a="http://schemas.openxmlformats.org/drawingml/2006/main" prst="rect">
            <a:avLst/>
          </a:prstGeom>
        </p:spPr>
      </p:pic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DA0EA54-B404-47B7-944D-5182C59C68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04925" y="6267450"/>
            <a:ext cx="90487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536574"/>
                </a:solidFill>
                <a:latin typeface="DejaVu Sans"/>
                <a:ea typeface="DejaVu Sans"/>
                <a:cs typeface="DejaVu Sans"/>
              </a:defRPr>
            </a:pPr>
            <a:r>
              <a:rPr sz="1200" b="0">
                <a:solidFill>
                  <a:srgbClr val="536574"/>
                </a:solidFill>
                <a:latin typeface="DejaVu Sans"/>
                <a:ea typeface="DejaVu Sans"/>
                <a:cs typeface="DejaVu Sans"/>
              </a:rPr>
              <a:t>© 2026 Saint Pierre Learning Resources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FA6C971-D56E-447C-AB59-C9AC2149DC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257925"/>
            <a:ext cx="4762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536574"/>
                </a:solidFill>
                <a:latin typeface="DejaVu Sans"/>
                <a:ea typeface="DejaVu Sans"/>
                <a:cs typeface="DejaVu Sans"/>
              </a:defRPr>
            </a:pPr>
            <a:r>
              <a:rPr sz="1200" b="0">
                <a:solidFill>
                  <a:srgbClr val="536574"/>
                </a:solidFill>
                <a:latin typeface="DejaVu Sans"/>
                <a:ea typeface="DejaVu Sans"/>
                <a:cs typeface="DejaVu Sans"/>
              </a:rPr>
              <a:t>9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0E49724-6370-4074-9F67-C552476D6F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2114550"/>
            <a:ext cx="10858500" cy="2619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400" b="0">
                <a:solidFill>
                  <a:srgbClr val="172D46"/>
                </a:solidFill>
                <a:latin typeface="DejaVu Sans"/>
                <a:ea typeface="DejaVu Sans"/>
                <a:cs typeface="DejaVu Sans"/>
              </a:defRPr>
            </a:pPr>
            <a:r>
              <a:rPr sz="2400" b="0">
                <a:solidFill>
                  <a:srgbClr val="172D46"/>
                </a:solidFill>
                <a:latin typeface="DejaVu Sans"/>
                <a:ea typeface="DejaVu Sans"/>
                <a:cs typeface="DejaVu Sans"/>
              </a:rPr>
              <a:t>The music club fills 2 folders with 7 cards each. How many cards are there altogether? Draw equal groups and write an equation.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75C658F-F246-44BA-B69A-48D3CC8D7E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5210175"/>
            <a:ext cx="10810875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950" b="1">
                <a:solidFill>
                  <a:srgbClr val="246A70"/>
                </a:solidFill>
                <a:latin typeface="DejaVu Sans"/>
                <a:ea typeface="DejaVu Sans"/>
                <a:cs typeface="DejaVu Sans"/>
              </a:defRPr>
            </a:pPr>
            <a:r>
              <a:rPr sz="1950" b="1">
                <a:solidFill>
                  <a:srgbClr val="246A70"/>
                </a:solidFill>
                <a:latin typeface="DejaVu Sans"/>
                <a:ea typeface="DejaVu Sans"/>
                <a:cs typeface="DejaVu Sans"/>
              </a:rPr>
              <a:t>Include a check. What would you teach someone else?</a:t>
            </a:r>
          </a:p>
        </p:txBody>
      </p:sp>
    </p:spTree>
    <p:extLst>
      <p:ext uri="{BB962C8B-B14F-4D97-AF65-F5344CB8AC3E}">
        <p14:creationId xmlns:p14="http://schemas.microsoft.com/office/powerpoint/2010/main" val="1492749464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E7D0CBD-A5D2-4AE5-A821-1F681D4821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47650"/>
            <a:ext cx="10477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246A70"/>
                </a:solidFill>
                <a:latin typeface="DejaVu Sans"/>
                <a:ea typeface="DejaVu Sans"/>
                <a:cs typeface="DejaVu Sans"/>
              </a:defRPr>
            </a:pPr>
            <a:r>
              <a:rPr sz="1350" b="1">
                <a:solidFill>
                  <a:srgbClr val="246A70"/>
                </a:solidFill>
                <a:latin typeface="DejaVu Sans"/>
                <a:ea typeface="DejaVu Sans"/>
                <a:cs typeface="DejaVu Sans"/>
              </a:rPr>
              <a:t>TEACHER KEY • HIDE DURING INDEPENDENT WORK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8A77443-7E89-4B40-8B91-A7A497887E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723900"/>
            <a:ext cx="10953750" cy="1123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225" b="1">
                <a:solidFill>
                  <a:srgbClr val="172D46"/>
                </a:solidFill>
                <a:latin typeface="DejaVu Sans"/>
                <a:ea typeface="DejaVu Sans"/>
                <a:cs typeface="DejaVu Sans"/>
              </a:defRPr>
            </a:pPr>
            <a:r>
              <a:rPr sz="3225" b="1">
                <a:solidFill>
                  <a:srgbClr val="172D46"/>
                </a:solidFill>
                <a:latin typeface="DejaVu Sans"/>
                <a:ea typeface="DejaVu Sans"/>
                <a:cs typeface="DejaVu Sans"/>
              </a:rPr>
              <a:t>Teacher review and next steps</a:t>
            </a:r>
          </a:p>
        </p:txBody>
      </p:sp>
      <p:pic>
        <p:nvPicPr>
          <p:cNvPr id="10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bde66f671e443b9"/>
          <a:stretch xmlns:a="http://schemas.openxmlformats.org/drawingml/2006/main"/>
        </p:blipFill>
        <p:spPr>
          <a:xfrm xmlns:a="http://schemas.openxmlformats.org/drawingml/2006/main">
            <a:off x="571500" y="6043613"/>
            <a:ext cx="590550" cy="590550"/>
          </a:xfrm>
          <a:prstGeom xmlns:a="http://schemas.openxmlformats.org/drawingml/2006/main" prst="rect">
            <a:avLst/>
          </a:prstGeom>
        </p:spPr>
      </p:pic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5C99FBC-6B59-4FA9-9BA6-19DB28FB26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04925" y="6267450"/>
            <a:ext cx="90487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536574"/>
                </a:solidFill>
                <a:latin typeface="DejaVu Sans"/>
                <a:ea typeface="DejaVu Sans"/>
                <a:cs typeface="DejaVu Sans"/>
              </a:defRPr>
            </a:pPr>
            <a:r>
              <a:rPr sz="1200" b="0">
                <a:solidFill>
                  <a:srgbClr val="536574"/>
                </a:solidFill>
                <a:latin typeface="DejaVu Sans"/>
                <a:ea typeface="DejaVu Sans"/>
                <a:cs typeface="DejaVu Sans"/>
              </a:rPr>
              <a:t>© 2026 Saint Pierre Learning Resources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A87DBD7-5666-485A-BBF3-63F7645850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257925"/>
            <a:ext cx="4762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536574"/>
                </a:solidFill>
                <a:latin typeface="DejaVu Sans"/>
                <a:ea typeface="DejaVu Sans"/>
                <a:cs typeface="DejaVu Sans"/>
              </a:defRPr>
            </a:pPr>
            <a:r>
              <a:rPr sz="1200" b="0">
                <a:solidFill>
                  <a:srgbClr val="536574"/>
                </a:solidFill>
                <a:latin typeface="DejaVu Sans"/>
                <a:ea typeface="DejaVu Sans"/>
                <a:cs typeface="DejaVu Sans"/>
              </a:rPr>
              <a:t>10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0DAC1DF-DB42-447D-84B6-FFB1038A02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2066925"/>
            <a:ext cx="5143500" cy="2724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025" b="1">
                <a:solidFill>
                  <a:srgbClr val="172D46"/>
                </a:solidFill>
                <a:latin typeface="DejaVu Sans"/>
                <a:ea typeface="DejaVu Sans"/>
                <a:cs typeface="DejaVu Sans"/>
              </a:defRPr>
            </a:pPr>
            <a:r>
              <a:rPr sz="2025" b="1">
                <a:solidFill>
                  <a:srgbClr val="172D46"/>
                </a:solidFill>
                <a:latin typeface="DejaVu Sans"/>
                <a:ea typeface="DejaVu Sans"/>
                <a:cs typeface="DejaVu Sans"/>
              </a:rPr>
              <a:t>1. 15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2025" b="1">
                <a:solidFill>
                  <a:srgbClr val="172D46"/>
                </a:solidFill>
                <a:latin typeface="DejaVu Sans"/>
                <a:ea typeface="DejaVu Sans"/>
                <a:cs typeface="DejaVu Sans"/>
              </a:defRPr>
            </a:pPr>
            <a:r>
              <a:rPr sz="2025" b="1">
                <a:solidFill>
                  <a:srgbClr val="172D46"/>
                </a:solidFill>
                <a:latin typeface="DejaVu Sans"/>
                <a:ea typeface="DejaVu Sans"/>
                <a:cs typeface="DejaVu Sans"/>
              </a:rPr>
              <a:t>2. 3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2025" b="1">
                <a:solidFill>
                  <a:srgbClr val="172D46"/>
                </a:solidFill>
                <a:latin typeface="DejaVu Sans"/>
                <a:ea typeface="DejaVu Sans"/>
                <a:cs typeface="DejaVu Sans"/>
              </a:defRPr>
            </a:pPr>
            <a:r>
              <a:rPr sz="2025" b="1">
                <a:solidFill>
                  <a:srgbClr val="172D46"/>
                </a:solidFill>
                <a:latin typeface="DejaVu Sans"/>
                <a:ea typeface="DejaVu Sans"/>
                <a:cs typeface="DejaVu Sans"/>
              </a:rPr>
              <a:t>3. 32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2025" b="1">
                <a:solidFill>
                  <a:srgbClr val="172D46"/>
                </a:solidFill>
                <a:latin typeface="DejaVu Sans"/>
                <a:ea typeface="DejaVu Sans"/>
                <a:cs typeface="DejaVu Sans"/>
              </a:defRPr>
            </a:pPr>
            <a:r>
              <a:rPr sz="2025" b="1">
                <a:solidFill>
                  <a:srgbClr val="172D46"/>
                </a:solidFill>
                <a:latin typeface="DejaVu Sans"/>
                <a:ea typeface="DejaVu Sans"/>
                <a:cs typeface="DejaVu Sans"/>
              </a:rPr>
              <a:t>4. 7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301DAC5-3DB5-4E4C-AFE2-C76343D189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15075" y="2066925"/>
            <a:ext cx="5143500" cy="3143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025" b="0">
                <a:solidFill>
                  <a:srgbClr val="172D46"/>
                </a:solidFill>
                <a:latin typeface="DejaVu Sans"/>
                <a:ea typeface="DejaVu Sans"/>
                <a:cs typeface="DejaVu Sans"/>
              </a:defRPr>
            </a:pPr>
            <a:r>
              <a:rPr sz="2025" b="0">
                <a:solidFill>
                  <a:srgbClr val="172D46"/>
                </a:solidFill>
                <a:latin typeface="DejaVu Sans"/>
                <a:ea typeface="DejaVu Sans"/>
                <a:cs typeface="DejaVu Sans"/>
              </a:rPr>
              <a:t>Exit: 14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2025" b="0">
                <a:solidFill>
                  <a:srgbClr val="172D46"/>
                </a:solidFill>
                <a:latin typeface="DejaVu Sans"/>
                <a:ea typeface="DejaVu Sans"/>
                <a:cs typeface="DejaVu Sans"/>
              </a:defRPr>
            </a:pPr>
            <a:r>
              <a:rPr sz="2025" b="0">
                <a:solidFill>
                  <a:srgbClr val="172D46"/>
                </a:solidFill>
                <a:latin typeface="DejaVu Sans"/>
                <a:ea typeface="DejaVu Sans"/>
                <a:cs typeface="DejaVu Sans"/>
              </a:rPr>
              <a:t>Use the worked PDF key and slide notes to discuss methods. Revisit the earliest unclear step before adding more practice.</a:t>
            </a:r>
          </a:p>
        </p:txBody>
      </p:sp>
    </p:spTree>
    <p:extLst>
      <p:ext uri="{BB962C8B-B14F-4D97-AF65-F5344CB8AC3E}">
        <p14:creationId xmlns:p14="http://schemas.microsoft.com/office/powerpoint/2010/main" val="1830345030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2026-09-15T01:31:03.8470000Z</dcterms:created>
  <dcterms:modified xsi:type="dcterms:W3CDTF">2026-09-15T01:31:03.8470000Z</dcterms:modified>
</coreProperties>
</file>