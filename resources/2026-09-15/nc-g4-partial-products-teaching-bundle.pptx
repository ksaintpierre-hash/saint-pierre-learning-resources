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da85c87e304f8c" /><Relationship Type="http://schemas.openxmlformats.org/officeDocument/2006/relationships/extended-properties" Target="/docProps/app.xml" Id="Rf634bcd8879445c7" /><Relationship Type="http://schemas.openxmlformats.org/officeDocument/2006/relationships/officeDocument" Target="/ppt/presentation.xml" Id="Redb88cb0910b43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b7c29822b74035"/>
  </p:sldMasterIdLst>
  <p:notesMasterIdLst>
    <p:notesMasterId xmlns:r="http://schemas.openxmlformats.org/officeDocument/2006/relationships" r:id="R80f7b96578e34b06"/>
  </p:notesMasterIdLst>
  <p:sldIdLst>
    <p:sldId xmlns:r="http://schemas.openxmlformats.org/officeDocument/2006/relationships" id="256" r:id="Rcc60c90e4ac7498f"/>
    <p:sldId xmlns:r="http://schemas.openxmlformats.org/officeDocument/2006/relationships" id="257" r:id="Ra44ee01608154e7e"/>
    <p:sldId xmlns:r="http://schemas.openxmlformats.org/officeDocument/2006/relationships" id="258" r:id="R854af9a3c58c46a8"/>
    <p:sldId xmlns:r="http://schemas.openxmlformats.org/officeDocument/2006/relationships" id="259" r:id="R547007dfae664a0d"/>
    <p:sldId xmlns:r="http://schemas.openxmlformats.org/officeDocument/2006/relationships" id="260" r:id="R118ca7df420b4356"/>
    <p:sldId xmlns:r="http://schemas.openxmlformats.org/officeDocument/2006/relationships" id="261" r:id="R4212fed07ba24058"/>
    <p:sldId xmlns:r="http://schemas.openxmlformats.org/officeDocument/2006/relationships" id="262" r:id="R38c4fa3b41574596"/>
    <p:sldId xmlns:r="http://schemas.openxmlformats.org/officeDocument/2006/relationships" id="263" r:id="R363eca26990d4ac4"/>
    <p:sldId xmlns:r="http://schemas.openxmlformats.org/officeDocument/2006/relationships" id="264" r:id="R039407f301804dfe"/>
    <p:sldId xmlns:r="http://schemas.openxmlformats.org/officeDocument/2006/relationships" id="265" r:id="Racc6ce2073544f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b0c58e703d492f" /><Relationship Type="http://schemas.openxmlformats.org/officeDocument/2006/relationships/slideMaster" Target="/ppt/slideMasters/slideMaster1.xml" Id="R9cb7c29822b74035" /><Relationship Type="http://schemas.openxmlformats.org/officeDocument/2006/relationships/notesMaster" Target="/ppt/notesMasters/notesMaster1.xml" Id="R80f7b96578e34b06" /><Relationship Type="http://schemas.openxmlformats.org/officeDocument/2006/relationships/presProps" Target="/ppt/presProps.xml" Id="R315bc7ff51e74938" /><Relationship Type="http://schemas.openxmlformats.org/officeDocument/2006/relationships/tableStyles" Target="/ppt/tableStyles.xml" Id="Rdb11a41c852c4d76" /><Relationship Type="http://schemas.openxmlformats.org/officeDocument/2006/relationships/slide" Target="/ppt/slides/slide1.xml" Id="Rcc60c90e4ac7498f" /><Relationship Type="http://schemas.openxmlformats.org/officeDocument/2006/relationships/slide" Target="/ppt/slides/slide2.xml" Id="Ra44ee01608154e7e" /><Relationship Type="http://schemas.openxmlformats.org/officeDocument/2006/relationships/slide" Target="/ppt/slides/slide3.xml" Id="R854af9a3c58c46a8" /><Relationship Type="http://schemas.openxmlformats.org/officeDocument/2006/relationships/slide" Target="/ppt/slides/slide4.xml" Id="R547007dfae664a0d" /><Relationship Type="http://schemas.openxmlformats.org/officeDocument/2006/relationships/slide" Target="/ppt/slides/slide5.xml" Id="R118ca7df420b4356" /><Relationship Type="http://schemas.openxmlformats.org/officeDocument/2006/relationships/slide" Target="/ppt/slides/slide6.xml" Id="R4212fed07ba24058" /><Relationship Type="http://schemas.openxmlformats.org/officeDocument/2006/relationships/slide" Target="/ppt/slides/slide7.xml" Id="R38c4fa3b41574596" /><Relationship Type="http://schemas.openxmlformats.org/officeDocument/2006/relationships/slide" Target="/ppt/slides/slide8.xml" Id="R363eca26990d4ac4" /><Relationship Type="http://schemas.openxmlformats.org/officeDocument/2006/relationships/slide" Target="/ppt/slides/slide9.xml" Id="R039407f301804dfe" /><Relationship Type="http://schemas.openxmlformats.org/officeDocument/2006/relationships/slide" Target="/ppt/slides/slide10.xml" Id="Racc6ce2073544f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674286e1b744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a00c85b2ae48f9" /><Relationship Type="http://schemas.openxmlformats.org/officeDocument/2006/relationships/notesMaster" Target="/ppt/notesMasters/notesMaster1.xml" Id="R4b4af182bff946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d6696bcc6648f7" /><Relationship Type="http://schemas.openxmlformats.org/officeDocument/2006/relationships/notesMaster" Target="/ppt/notesMasters/notesMaster1.xml" Id="R48950810f6dc41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28c6fbdda74a0f" /><Relationship Type="http://schemas.openxmlformats.org/officeDocument/2006/relationships/notesMaster" Target="/ppt/notesMasters/notesMaster1.xml" Id="R25c5cb2cc0e341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f0ed0c5b744a9f" /><Relationship Type="http://schemas.openxmlformats.org/officeDocument/2006/relationships/notesMaster" Target="/ppt/notesMasters/notesMaster1.xml" Id="Rc99120d2801842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cb587c65bf4458" /><Relationship Type="http://schemas.openxmlformats.org/officeDocument/2006/relationships/notesMaster" Target="/ppt/notesMasters/notesMaster1.xml" Id="R66ae5cd0e4c341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7e4fc3a8a9429e" /><Relationship Type="http://schemas.openxmlformats.org/officeDocument/2006/relationships/notesMaster" Target="/ppt/notesMasters/notesMaster1.xml" Id="Rdca2a904bd7341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c06fd264e846d0" /><Relationship Type="http://schemas.openxmlformats.org/officeDocument/2006/relationships/notesMaster" Target="/ppt/notesMasters/notesMaster1.xml" Id="R8dd7857b770147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d19f61708843c0" /><Relationship Type="http://schemas.openxmlformats.org/officeDocument/2006/relationships/notesMaster" Target="/ppt/notesMasters/notesMaster1.xml" Id="R800453f572eb44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a560a28ecf40b3" /><Relationship Type="http://schemas.openxmlformats.org/officeDocument/2006/relationships/notesMaster" Target="/ppt/notesMasters/notesMaster1.xml" Id="R289acfc536a54f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92991a569b247ee" /><Relationship Type="http://schemas.openxmlformats.org/officeDocument/2006/relationships/notesMaster" Target="/ppt/notesMasters/notesMaster1.xml" Id="Ra9fa9042c92548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focused mini-lesson. Use with the complete teaching-bundle PDF. Objective: Connect area models with partial products. Standard: NC.4.NBT.5. Official source accessed September 15, 2026: https://www.dpi.nc.gov/documents/publications/catalog/ma196-vertical-progression-math/open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a simpler prior-knowledge example. Use counters, diagrams, home-language rehearsal, or documented supports. Read the full teacher guide before presenting.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Split a factor by place value. Multiply each part and combine partial products. Label the pieces in an area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answer: (340 × 3) + (1 × 3) = 1020 + 3 = 1023. The parts account for every box or card exactly once. Ask students to connect the model with symbols before revealing the answer.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27 × 20 + 27 × 9 = 540 + 243 = 783. The parts account for every box or card exactly once.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16 × 20 + 16 × 2 = 320 + 32 = 352. The parts account for every box or card exactly once.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(240 × 3) + (8 × 3) = 720 + 24 = 744. The parts account for every box or card exactly once.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(230 × 4) + (3 × 4) = 920 + 12 = 932. The parts account for every box or card exactly once.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Answer: (190 × 4) + (1 × 4) = 760 + 4 = 764. The parts account for every box or card exactly once. Score 2 for correct result with coherent reasoning, 1 for a correct method with a minor error or an unexplained correct result, 0 for unsupported reasoning. This is a local instructional rubric, not a standardized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27 × 20 + 27 × 9 = 540 + 243 = 783. The parts account for every box or card exactly once.</a:t>
            </a:r>
          </a:p>
          <a:p xmlns:a="http://schemas.openxmlformats.org/drawingml/2006/main">
            <a:r>
              <a:t>2. 16 × 20 + 16 × 2 = 320 + 32 = 352. The parts account for every box or card exactly once.</a:t>
            </a:r>
          </a:p>
          <a:p xmlns:a="http://schemas.openxmlformats.org/drawingml/2006/main">
            <a:r>
              <a:t>3. (240 × 3) + (8 × 3) = 720 + 24 = 744. The parts account for every box or card exactly once.</a:t>
            </a:r>
          </a:p>
          <a:p xmlns:a="http://schemas.openxmlformats.org/drawingml/2006/main">
            <a:r>
              <a:t>4. (230 × 4) + (3 × 4) = 920 + 12 = 932. The parts account for every box or card exactly once.</a:t>
            </a:r>
          </a:p>
          <a:p xmlns:a="http://schemas.openxmlformats.org/drawingml/2006/main">
            <a:r>
              <a:t>Exit: (190 × 4) + (1 × 4) = 760 + 4 = 764. The parts account for every box or card exactly once.</a:t>
            </a:r>
          </a:p>
          <a:p xmlns:a="http://schemas.openxmlformats.org/drawingml/2006/main">
            <a:r>
              <a:t>AIG: second methods and counterexamples. 504: follow documented pacing and format supports. EC: model a step and provide concrete representations in line with the IEP. ESL: preview vocabulary and use partner or home-language rehearsal. Single-teacher classroom license. No public redistribution.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a1e842c3fd4f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a42e6043b84249" /><Relationship Type="http://schemas.openxmlformats.org/officeDocument/2006/relationships/slideLayout" Target="/ppt/slideLayouts/slideLayout1.xml" Id="Rb4808614393d4a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808614393d4a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307fdd6124082" /><Relationship Type="http://schemas.openxmlformats.org/officeDocument/2006/relationships/image" Target="/ppt/media/image.png" Id="Re18a98d862d04d57" /><Relationship Type="http://schemas.openxmlformats.org/officeDocument/2006/relationships/image" Target="/ppt/media/image2.png" Id="R78435c1b68b94961" /><Relationship Type="http://schemas.openxmlformats.org/officeDocument/2006/relationships/notesSlide" Target="/ppt/notesSlides/notesSlide1.xml" Id="R60734bbfb4df4f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306593c0b402f" /><Relationship Type="http://schemas.openxmlformats.org/officeDocument/2006/relationships/image" Target="/ppt/media/image3.png" Id="R83b949638a9e47f2" /><Relationship Type="http://schemas.openxmlformats.org/officeDocument/2006/relationships/notesSlide" Target="/ppt/notesSlides/notesSlide2.xml" Id="R84c1b3fcca964e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715b7b447b465a" /><Relationship Type="http://schemas.openxmlformats.org/officeDocument/2006/relationships/image" Target="/ppt/media/image4.png" Id="Rece5f55fc9b3466a" /><Relationship Type="http://schemas.openxmlformats.org/officeDocument/2006/relationships/notesSlide" Target="/ppt/notesSlides/notesSlide3.xml" Id="Ra3a13b2fb8d74a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2ee26c12241b3" /><Relationship Type="http://schemas.openxmlformats.org/officeDocument/2006/relationships/image" Target="/ppt/media/image5.png" Id="R86a5a34d2b584c70" /><Relationship Type="http://schemas.openxmlformats.org/officeDocument/2006/relationships/notesSlide" Target="/ppt/notesSlides/notesSlide4.xml" Id="R8bd7c19581f74c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5e4dff92243a0" /><Relationship Type="http://schemas.openxmlformats.org/officeDocument/2006/relationships/image" Target="/ppt/media/image6.png" Id="R40965375cc4d4aea" /><Relationship Type="http://schemas.openxmlformats.org/officeDocument/2006/relationships/notesSlide" Target="/ppt/notesSlides/notesSlide5.xml" Id="R7ec5ec903b2b48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95bf6432584f4d" /><Relationship Type="http://schemas.openxmlformats.org/officeDocument/2006/relationships/image" Target="/ppt/media/image7.png" Id="R9b5111fe21f04d79" /><Relationship Type="http://schemas.openxmlformats.org/officeDocument/2006/relationships/notesSlide" Target="/ppt/notesSlides/notesSlide6.xml" Id="R8b15cdae662f4d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fca58e2c894b0c" /><Relationship Type="http://schemas.openxmlformats.org/officeDocument/2006/relationships/image" Target="/ppt/media/image8.png" Id="R2332dd76b85f491f" /><Relationship Type="http://schemas.openxmlformats.org/officeDocument/2006/relationships/notesSlide" Target="/ppt/notesSlides/notesSlide7.xml" Id="R8719990e3a1e46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bcdd7942de4355" /><Relationship Type="http://schemas.openxmlformats.org/officeDocument/2006/relationships/image" Target="/ppt/media/image9.png" Id="R17d088e307194770" /><Relationship Type="http://schemas.openxmlformats.org/officeDocument/2006/relationships/notesSlide" Target="/ppt/notesSlides/notesSlide8.xml" Id="Re2aab2823ab84d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4956514cf46a3" /><Relationship Type="http://schemas.openxmlformats.org/officeDocument/2006/relationships/image" Target="/ppt/media/image10.png" Id="R61b2ebddb2a9447d" /><Relationship Type="http://schemas.openxmlformats.org/officeDocument/2006/relationships/notesSlide" Target="/ppt/notesSlides/notesSlide9.xml" Id="R43845770195243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362038df804106" /><Relationship Type="http://schemas.openxmlformats.org/officeDocument/2006/relationships/image" Target="/ppt/media/image11.png" Id="R94136550fb9548aa" /><Relationship Type="http://schemas.openxmlformats.org/officeDocument/2006/relationships/notesSlide" Target="/ppt/notesSlides/notesSlide10.xml" Id="Reda8adf3099642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E0FBBC-AA97-4719-8D9E-81AB4AA0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SAINT PIERRE LEARNING RESOURCES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0E2AB9-1A8E-4B09-BB3C-FAC56B45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Partial Products, Clear Thinking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8a98d862d04d57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93C35-4EB2-4B52-BB04-0D4E945D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31BDEA-BCFA-4050-9BCA-401F3A4B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435c1b68b94961"/>
          <a:stretch xmlns:a="http://schemas.openxmlformats.org/drawingml/2006/main"/>
        </p:blipFill>
        <p:spPr>
          <a:xfrm xmlns:a="http://schemas.openxmlformats.org/drawingml/2006/main">
            <a:off x="571500" y="2447925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C7DF70-2EE9-4662-B38F-9422C6F3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52700"/>
            <a:ext cx="790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Grade 4 • Mathematics</a:t>
            </a:r>
          </a:p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NC.4.NBT.5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0F54F5-4666-4097-9337-163FEEE2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43325"/>
            <a:ext cx="79533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Connect area models with partial products.</a:t>
            </a:r>
          </a:p>
        </p:txBody>
      </p:sp>
    </p:spTree>
    <p:extLst>
      <p:ext uri="{BB962C8B-B14F-4D97-AF65-F5344CB8AC3E}">
        <p14:creationId xmlns:p14="http://schemas.microsoft.com/office/powerpoint/2010/main" val="1449036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335FA6-567A-4406-AD6E-7CF587F1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8F52D4-F6DE-42C7-84FF-9A7B8090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What will a strong explanation show?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b949638a9e47f2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A1EED0-0732-48A2-9657-3499B3F3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19141B-C137-417D-8216-9AF1B427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788BAA-3BAD-481C-BE6A-7B37FB4E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10858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A model or equation that fits the quantities.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Accurate calculation with appropriate units.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A check that makes the answer reasonable.</a:t>
            </a:r>
          </a:p>
        </p:txBody>
      </p:sp>
    </p:spTree>
    <p:extLst>
      <p:ext uri="{BB962C8B-B14F-4D97-AF65-F5344CB8AC3E}">
        <p14:creationId xmlns:p14="http://schemas.microsoft.com/office/powerpoint/2010/main" val="12362480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FC3673-D6AD-4904-A266-ADD49926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CF0FBF-5EA1-4B3D-A454-352D500E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Watch the reasoning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e5f55fc9b3466a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E8D37-F023-456A-8569-D6A58CEE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64C964-AD03-416D-A0CB-7BD3DD03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E22251-3E2D-4F78-ADDF-22C431AD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33600"/>
            <a:ext cx="10858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The library team packs 182 cards in each of 3 boxes. Find the total. Show partial products and explain why they can be added.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1E3D5B-0C6B-43F8-BF7B-F362DF9B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62425"/>
            <a:ext cx="1085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(180 × 3) + (2 × 3) = 540 + 6 = 546. The parts account for every box or card exactly once.</a:t>
            </a:r>
          </a:p>
        </p:txBody>
      </p:sp>
    </p:spTree>
    <p:extLst>
      <p:ext uri="{BB962C8B-B14F-4D97-AF65-F5344CB8AC3E}">
        <p14:creationId xmlns:p14="http://schemas.microsoft.com/office/powerpoint/2010/main" val="12398610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9D4F13-AFF1-4BB1-A7D1-6B61CDBA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65572F-DF51-40E0-A419-0C86AA65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Build a second model together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a5a34d2b584c70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18B44F-CEB4-4155-90EC-1B7520C4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6CD4B-21E1-4BC1-9912-DC911BC6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9D3A4F-0E40-4D9E-99E2-A7C9484E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1085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The reading group packs 341 cards in each of 3 boxes. Find the total. Show partial products and explain why they can be added.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FE79CB-8C68-4FC7-AC65-E8A5C079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Discuss: What should the first step find?</a:t>
            </a:r>
          </a:p>
        </p:txBody>
      </p:sp>
    </p:spTree>
    <p:extLst>
      <p:ext uri="{BB962C8B-B14F-4D97-AF65-F5344CB8AC3E}">
        <p14:creationId xmlns:p14="http://schemas.microsoft.com/office/powerpoint/2010/main" val="5401490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760A35-598A-46CF-8E22-CFF8891F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1DAB8-E3C7-44D1-AD3B-442DDC8E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1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965375cc4d4aea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FCE4F-EA9B-48AE-B947-B278EEA0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8A3917-B8BF-4E8C-A636-D1137CA9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5C89F0-F81A-41CA-943E-F75F3154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The music club packs 27 cards in each of 29 boxes. Find the total. Show partial products and explain why they can be added.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8ACF4-AC02-4063-8A6F-D9445E49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3155443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78E635-F319-468C-826C-28D4F3A5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49024B-5A20-4A4E-8CD1-2AD2A5DD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2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5111fe21f04d79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BA58F7-6DA9-4C4D-8844-A0E0E977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5CF1C0-FD81-4E37-A90E-ECF0F8BE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6D54FE-4598-4790-A2DC-EC89C9DD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The design team packs 16 cards in each of 22 boxes. Find the total. Show partial products and explain why they can be added.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87E382-1F44-45A9-97A2-0071A25E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5357169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650BB8-C0BC-442E-B3CE-93320DBE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8743C6-8B4E-4105-967D-0F36E72E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3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32dd76b85f491f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2618E8-CB56-475C-8BFF-9C2AF21B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845B97-591D-48D9-B2E9-441E2A37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19339E-3D69-4CEC-8EB1-69F67CB0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The school garden packs 248 cards in each of 3 boxes. Find the total. Show partial products and explain why they can be added.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9DC5E6-B3F9-4A79-997B-C95649EE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2521299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268305-44A3-42FA-8D2E-6463D9B2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E9B58D-DBF3-4C72-9BB6-EAA7766E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4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d088e307194770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3A92F9-7678-430F-BE24-E04E38C0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3CA99-3685-4722-BE7A-133A6F6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5B5825-15DB-49BA-98F2-96C6C1A9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The science club packs 233 cards in each of 4 boxes. Find the total. Show partial products and explain why they can be added.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44694-556A-4CDF-B728-6862C71C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9063105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AA9E04-3250-402F-87AD-14246F64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86FAED-08DD-4E83-9C46-E3844E71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 question • Explain independently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b2ebddb2a9447d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784E8F-45A0-42DB-99CB-33783AC1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75000D-1FD6-47CD-979C-2EF092F8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9ED7F8-E791-4B5E-A803-8282235C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10858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The library team packs 191 cards in each of 4 boxes. Find the total. Show partial products and explain why they can be added.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8F7A89-F880-43CE-A4A6-AB877FA5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017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Include a check. What would you teach someone else?</a:t>
            </a:r>
          </a:p>
        </p:txBody>
      </p:sp>
    </p:spTree>
    <p:extLst>
      <p:ext uri="{BB962C8B-B14F-4D97-AF65-F5344CB8AC3E}">
        <p14:creationId xmlns:p14="http://schemas.microsoft.com/office/powerpoint/2010/main" val="2522480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734A69-D9C2-4D04-9A92-160FE6A8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TEACHER KEY • HIDE DURING INDEPENDENT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7A9CE2-CF84-4522-A404-482A2281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Teacher review and next steps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136550fb9548aa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A16B36-29F4-475E-AA4A-2C3628DE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463AE7-C261-4671-99F4-0E93EA78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7801FD-BEC8-4F04-B8DA-1B2F0D83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66925"/>
            <a:ext cx="5143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1. 783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2. 352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3. 744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4. 932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ADE2C4-88A2-4E62-B734-CC9B6879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66925"/>
            <a:ext cx="5143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Exit: 764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Use the worked PDF key and slide notes to discuss methods. Revisit the earliest unclear step before adding more practice.</a:t>
            </a:r>
          </a:p>
        </p:txBody>
      </p:sp>
    </p:spTree>
    <p:extLst>
      <p:ext uri="{BB962C8B-B14F-4D97-AF65-F5344CB8AC3E}">
        <p14:creationId xmlns:p14="http://schemas.microsoft.com/office/powerpoint/2010/main" val="5724838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2026-09-15T01:31:40.6060000Z</dcterms:created>
  <dcterms:modified xsi:type="dcterms:W3CDTF">2026-09-15T01:31:40.6060000Z</dcterms:modified>
</coreProperties>
</file>