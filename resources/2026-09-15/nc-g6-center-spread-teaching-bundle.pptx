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a7450f5db64f10" /><Relationship Type="http://schemas.openxmlformats.org/officeDocument/2006/relationships/extended-properties" Target="/docProps/app.xml" Id="R712fac44157844d6" /><Relationship Type="http://schemas.openxmlformats.org/officeDocument/2006/relationships/officeDocument" Target="/ppt/presentation.xml" Id="R638a86d936f749ab" /></Relationships>
</file>

<file path=ppt/presentation.xml><?xml version="1.0" encoding="utf-8"?>
<p:presentation xmlns:p="http://schemas.openxmlformats.org/presentationml/2006/main">
  <p:sldMasterIdLst>
    <p:sldMasterId xmlns:r="http://schemas.openxmlformats.org/officeDocument/2006/relationships" id="2147483648" r:id="Rdeef6244b33f4372"/>
  </p:sldMasterIdLst>
  <p:notesMasterIdLst>
    <p:notesMasterId xmlns:r="http://schemas.openxmlformats.org/officeDocument/2006/relationships" r:id="R87e4b50dba2a4775"/>
  </p:notesMasterIdLst>
  <p:sldIdLst>
    <p:sldId xmlns:r="http://schemas.openxmlformats.org/officeDocument/2006/relationships" id="256" r:id="R10bba63b74e64a13"/>
    <p:sldId xmlns:r="http://schemas.openxmlformats.org/officeDocument/2006/relationships" id="257" r:id="Rdb90a88c095645a2"/>
    <p:sldId xmlns:r="http://schemas.openxmlformats.org/officeDocument/2006/relationships" id="258" r:id="Rfa11327fa2de42c0"/>
    <p:sldId xmlns:r="http://schemas.openxmlformats.org/officeDocument/2006/relationships" id="259" r:id="Rdb7db99c6c66435e"/>
    <p:sldId xmlns:r="http://schemas.openxmlformats.org/officeDocument/2006/relationships" id="260" r:id="Rf9d5577135234896"/>
    <p:sldId xmlns:r="http://schemas.openxmlformats.org/officeDocument/2006/relationships" id="261" r:id="R4e3d5b74896648f0"/>
    <p:sldId xmlns:r="http://schemas.openxmlformats.org/officeDocument/2006/relationships" id="262" r:id="R75ec126797534e83"/>
    <p:sldId xmlns:r="http://schemas.openxmlformats.org/officeDocument/2006/relationships" id="263" r:id="Rc2a61ffb18244062"/>
    <p:sldId xmlns:r="http://schemas.openxmlformats.org/officeDocument/2006/relationships" id="264" r:id="R213cc58326f5473f"/>
    <p:sldId xmlns:r="http://schemas.openxmlformats.org/officeDocument/2006/relationships" id="265" r:id="R74882169965d47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1396986c274562" /><Relationship Type="http://schemas.openxmlformats.org/officeDocument/2006/relationships/slideMaster" Target="/ppt/slideMasters/slideMaster1.xml" Id="Rdeef6244b33f4372" /><Relationship Type="http://schemas.openxmlformats.org/officeDocument/2006/relationships/notesMaster" Target="/ppt/notesMasters/notesMaster1.xml" Id="R87e4b50dba2a4775" /><Relationship Type="http://schemas.openxmlformats.org/officeDocument/2006/relationships/presProps" Target="/ppt/presProps.xml" Id="Rbf5d570488644b39" /><Relationship Type="http://schemas.openxmlformats.org/officeDocument/2006/relationships/tableStyles" Target="/ppt/tableStyles.xml" Id="R6cb22ae4ea3749c7" /><Relationship Type="http://schemas.openxmlformats.org/officeDocument/2006/relationships/slide" Target="/ppt/slides/slide1.xml" Id="R10bba63b74e64a13" /><Relationship Type="http://schemas.openxmlformats.org/officeDocument/2006/relationships/slide" Target="/ppt/slides/slide2.xml" Id="Rdb90a88c095645a2" /><Relationship Type="http://schemas.openxmlformats.org/officeDocument/2006/relationships/slide" Target="/ppt/slides/slide3.xml" Id="Rfa11327fa2de42c0" /><Relationship Type="http://schemas.openxmlformats.org/officeDocument/2006/relationships/slide" Target="/ppt/slides/slide4.xml" Id="Rdb7db99c6c66435e" /><Relationship Type="http://schemas.openxmlformats.org/officeDocument/2006/relationships/slide" Target="/ppt/slides/slide5.xml" Id="Rf9d5577135234896" /><Relationship Type="http://schemas.openxmlformats.org/officeDocument/2006/relationships/slide" Target="/ppt/slides/slide6.xml" Id="R4e3d5b74896648f0" /><Relationship Type="http://schemas.openxmlformats.org/officeDocument/2006/relationships/slide" Target="/ppt/slides/slide7.xml" Id="R75ec126797534e83" /><Relationship Type="http://schemas.openxmlformats.org/officeDocument/2006/relationships/slide" Target="/ppt/slides/slide8.xml" Id="Rc2a61ffb18244062" /><Relationship Type="http://schemas.openxmlformats.org/officeDocument/2006/relationships/slide" Target="/ppt/slides/slide9.xml" Id="R213cc58326f5473f" /><Relationship Type="http://schemas.openxmlformats.org/officeDocument/2006/relationships/slide" Target="/ppt/slides/slide10.xml" Id="R74882169965d47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93416bb1e84b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2307b85d3d4754" /><Relationship Type="http://schemas.openxmlformats.org/officeDocument/2006/relationships/notesMaster" Target="/ppt/notesMasters/notesMaster1.xml" Id="R521611a6a2574c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052c1804444a39" /><Relationship Type="http://schemas.openxmlformats.org/officeDocument/2006/relationships/notesMaster" Target="/ppt/notesMasters/notesMaster1.xml" Id="R2e10259e368942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efda2faff74636" /><Relationship Type="http://schemas.openxmlformats.org/officeDocument/2006/relationships/notesMaster" Target="/ppt/notesMasters/notesMaster1.xml" Id="R5be5258da306489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fac7c169d54486" /><Relationship Type="http://schemas.openxmlformats.org/officeDocument/2006/relationships/notesMaster" Target="/ppt/notesMasters/notesMaster1.xml" Id="Rbd747a27682547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4c7e39bda34c7e" /><Relationship Type="http://schemas.openxmlformats.org/officeDocument/2006/relationships/notesMaster" Target="/ppt/notesMasters/notesMaster1.xml" Id="Rc4a8ddcd5b064a26"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0f0dd6a7c346de" /><Relationship Type="http://schemas.openxmlformats.org/officeDocument/2006/relationships/notesMaster" Target="/ppt/notesMasters/notesMaster1.xml" Id="R0d8badfc794a4b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e0874a1658466c" /><Relationship Type="http://schemas.openxmlformats.org/officeDocument/2006/relationships/notesMaster" Target="/ppt/notesMasters/notesMaster1.xml" Id="R1aecc0952fed429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fca9903aec64cc5" /><Relationship Type="http://schemas.openxmlformats.org/officeDocument/2006/relationships/notesMaster" Target="/ppt/notesMasters/notesMaster1.xml" Id="R44ce612793fd4cfb" /></Relationships>
</file>

<file path=ppt/notesSlides/_rels/notesSlide9.xml.rels>&#65279;<?xml version="1.0" encoding="utf-8"?><Relationships xmlns="http://schemas.openxmlformats.org/package/2006/relationships"><Relationship Type="http://schemas.openxmlformats.org/officeDocument/2006/relationships/slide" Target="/ppt/slides/slide9.xml" Id="R61342b94c6054acd" /><Relationship Type="http://schemas.openxmlformats.org/officeDocument/2006/relationships/notesMaster" Target="/ppt/notesMasters/notesMaster1.xml" Id="R7c1006ba760c4a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4765cbcfc294331" /><Relationship Type="http://schemas.openxmlformats.org/officeDocument/2006/relationships/notesMaster" Target="/ppt/notesMasters/notesMaster1.xml" Id="R2afc174887bb43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focused mini-lesson. Use with the complete teaching-bundle PDF. Objective: Compare center and variability in data. Standard: NC.6.SP.3. Official source accessed September 15, 2026: https://www.dpi.nc.gov/documents/publications/catalog/ma196-vertical-progression-math/open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a simpler prior-knowledge example. Use counters, diagrams, home-language rehearsal, or documented supports. Read the full teacher guide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Order the data. Find the median and mean, then describe spread so the typical value has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answer: A mean = 50/5 = 10; B mean = 60/5 = 12. The third value is the median in each ordered set. Increasing the greatest value raises mean and range, not median. Ask students to connect the model with symbols before revealing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direction: write or draw your reasoning on paper. Worked solution: A mean = 30/5 = 6; B mean = 40/5 = 8. The third value is the median in each ordered set. Increasing the greatest value raises mean and range, not median. Access: allow oral rehearsal, manipulatives, or reduced copying according to individual plans. Extension: invent a new problem with the same structure and verify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direction: write or draw your reasoning on paper. Worked solution: A mean = 50/5 = 10; B mean = 60/5 = 12. The third value is the median in each ordered set. Increasing the greatest value raises mean and range, not median. Access: allow oral rehearsal, manipulatives, or reduced copying according to individual plans. Extension: invent a new problem with the same structure and verify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direction: write or draw your reasoning on paper. Worked solution: A mean = 40/5 = 8; B mean = 50/5 = 10. The third value is the median in each ordered set. Increasing the greatest value raises mean and range, not median. Access: allow oral rehearsal, manipulatives, or reduced copying according to individual plans. Extension: invent a new problem with the same structure and verify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direction: write or draw your reasoning on paper. Worked solution: A mean = 40/5 = 8; B mean = 50/5 = 10. The third value is the median in each ordered set. Increasing the greatest value raises mean and range, not median. Access: allow oral rehearsal, manipulatives, or reduced copying according to individual plans. Extension: invent a new problem with the same structure and verify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A mean = 50/5 = 10; B mean = 60/5 = 12. The third value is the median in each ordered set. Increasing the greatest value raises mean and range, not median. Score 2 for correct result with coherent reasoning, 1 for a correct method with a minor error or an unexplained correct result, 0 for unsupported reasoning. This is a local instructional rubric, not a standardized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A mean = 30/5 = 6; B mean = 40/5 = 8. The third value is the median in each ordered set. Increasing the greatest value raises mean and range, not median.</a:t>
            </a:r>
          </a:p>
          <a:p xmlns:a="http://schemas.openxmlformats.org/drawingml/2006/main">
            <a:r>
              <a:t>2. A mean = 50/5 = 10; B mean = 60/5 = 12. The third value is the median in each ordered set. Increasing the greatest value raises mean and range, not median.</a:t>
            </a:r>
          </a:p>
          <a:p xmlns:a="http://schemas.openxmlformats.org/drawingml/2006/main">
            <a:r>
              <a:t>3. A mean = 40/5 = 8; B mean = 50/5 = 10. The third value is the median in each ordered set. Increasing the greatest value raises mean and range, not median.</a:t>
            </a:r>
          </a:p>
          <a:p xmlns:a="http://schemas.openxmlformats.org/drawingml/2006/main">
            <a:r>
              <a:t>4. A mean = 40/5 = 8; B mean = 50/5 = 10. The third value is the median in each ordered set. Increasing the greatest value raises mean and range, not median.</a:t>
            </a:r>
          </a:p>
          <a:p xmlns:a="http://schemas.openxmlformats.org/drawingml/2006/main">
            <a:r>
              <a:t>Exit: A mean = 50/5 = 10; B mean = 60/5 = 12. The third value is the median in each ordered set. Increasing the greatest value raises mean and range, not median.</a:t>
            </a:r>
          </a:p>
          <a:p xmlns:a="http://schemas.openxmlformats.org/drawingml/2006/main">
            <a:r>
              <a:t>AIG: second methods and counterexamples. 504: follow documented pacing and format supports. EC: model a step and provide concrete representations in line with the IEP. ESL: preview vocabulary and use partner or home-language rehearsal. Single-teacher classroom license. No public redistribution.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99f89c3a4b4c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70bf2a079f46cc" /><Relationship Type="http://schemas.openxmlformats.org/officeDocument/2006/relationships/slideLayout" Target="/ppt/slideLayouts/slideLayout1.xml" Id="Rb4336f0acaed4f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336f0acaed4f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9368c94e1d34442" /><Relationship Type="http://schemas.openxmlformats.org/officeDocument/2006/relationships/image" Target="/ppt/media/image.png" Id="R6c2b8868c62c4c12" /><Relationship Type="http://schemas.openxmlformats.org/officeDocument/2006/relationships/image" Target="/ppt/media/image2.png" Id="Re02287613d51428d" /><Relationship Type="http://schemas.openxmlformats.org/officeDocument/2006/relationships/notesSlide" Target="/ppt/notesSlides/notesSlide1.xml" Id="R6a808be9c3c840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f4841e3df64400d" /><Relationship Type="http://schemas.openxmlformats.org/officeDocument/2006/relationships/image" Target="/ppt/media/image3.png" Id="R963b5725a02e4ee8" /><Relationship Type="http://schemas.openxmlformats.org/officeDocument/2006/relationships/notesSlide" Target="/ppt/notesSlides/notesSlide2.xml" Id="Rea9efcec98f044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ead4da099cb4761" /><Relationship Type="http://schemas.openxmlformats.org/officeDocument/2006/relationships/image" Target="/ppt/media/image4.png" Id="R83196876b7e1465c" /><Relationship Type="http://schemas.openxmlformats.org/officeDocument/2006/relationships/notesSlide" Target="/ppt/notesSlides/notesSlide3.xml" Id="R14a1e0d8b6224e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ecf80b29cee4c37" /><Relationship Type="http://schemas.openxmlformats.org/officeDocument/2006/relationships/image" Target="/ppt/media/image5.png" Id="R9f298b829d1c4b24" /><Relationship Type="http://schemas.openxmlformats.org/officeDocument/2006/relationships/notesSlide" Target="/ppt/notesSlides/notesSlide4.xml" Id="R206855ae854d45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46828e6c0fa4eee" /><Relationship Type="http://schemas.openxmlformats.org/officeDocument/2006/relationships/image" Target="/ppt/media/image6.png" Id="R319e541109a74c8d" /><Relationship Type="http://schemas.openxmlformats.org/officeDocument/2006/relationships/notesSlide" Target="/ppt/notesSlides/notesSlide5.xml" Id="R7fa088dcb77e48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82b04c9af7f4db8" /><Relationship Type="http://schemas.openxmlformats.org/officeDocument/2006/relationships/image" Target="/ppt/media/image7.png" Id="Rfdfde9f9852c4ca4" /><Relationship Type="http://schemas.openxmlformats.org/officeDocument/2006/relationships/notesSlide" Target="/ppt/notesSlides/notesSlide6.xml" Id="R4591bb59dd3a48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2a418572c7941b6" /><Relationship Type="http://schemas.openxmlformats.org/officeDocument/2006/relationships/image" Target="/ppt/media/image8.png" Id="R5446e1850efe40b1" /><Relationship Type="http://schemas.openxmlformats.org/officeDocument/2006/relationships/notesSlide" Target="/ppt/notesSlides/notesSlide7.xml" Id="R3bbfc1325bef40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2ca22f3c6014635" /><Relationship Type="http://schemas.openxmlformats.org/officeDocument/2006/relationships/image" Target="/ppt/media/image9.png" Id="Rf0fab89461224259" /><Relationship Type="http://schemas.openxmlformats.org/officeDocument/2006/relationships/notesSlide" Target="/ppt/notesSlides/notesSlide8.xml" Id="R5ed20995f7f5400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b51a79023da4e0e" /><Relationship Type="http://schemas.openxmlformats.org/officeDocument/2006/relationships/image" Target="/ppt/media/image10.png" Id="R64947bd74925473a" /><Relationship Type="http://schemas.openxmlformats.org/officeDocument/2006/relationships/notesSlide" Target="/ppt/notesSlides/notesSlide9.xml" Id="R3cebf666c1dc4f4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989b8a50d1e47aa" /><Relationship Type="http://schemas.openxmlformats.org/officeDocument/2006/relationships/image" Target="/ppt/media/image11.png" Id="Rd4c950d94ea849d7" /><Relationship Type="http://schemas.openxmlformats.org/officeDocument/2006/relationships/notesSlide" Target="/ppt/notesSlides/notesSlide10.xml" Id="Reb6312817743438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EC1CC1-C028-464E-A03C-A2922315E83A}"/>
              </a:ext>
            </a:extLst>
          </p:cNvPr>
          <p:cNvSpPr>
            <a:spLocks xmlns:a="http://schemas.openxmlformats.org/drawingml/2006/main" noGrp="1"/>
          </p:cNvSpPr>
          <p:nvPr/>
        </p:nvSpPr>
        <p:spPr>
          <a:xfrm xmlns:a="http://schemas.openxmlformats.org/drawingml/2006/main">
            <a:off x="571500" y="2476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46A70"/>
                </a:solidFill>
                <a:latin typeface="DejaVu Sans"/>
                <a:ea typeface="DejaVu Sans"/>
                <a:cs typeface="DejaVu Sans"/>
              </a:defRPr>
            </a:pPr>
            <a:r>
              <a:rPr sz="1350" b="1">
                <a:solidFill>
                  <a:srgbClr val="246A70"/>
                </a:solidFill>
                <a:latin typeface="DejaVu Sans"/>
                <a:ea typeface="DejaVu Sans"/>
                <a:cs typeface="DejaVu Sans"/>
              </a:rPr>
              <a:t>SAINT PIERRE LEARNING RESOURCES</a:t>
            </a:r>
          </a:p>
        </p:txBody>
      </p:sp>
      <p:sp>
        <p:nvSpPr>
          <p:cNvPr id="2" name="">
            <a:extLst xmlns:a="http://schemas.openxmlformats.org/drawingml/2006/main">
              <a:ext uri="{FF2B5EF4-FFF2-40B4-BE49-F238E27FC236}">
                <a16:creationId xmlns:a16="http://schemas.microsoft.com/office/drawing/2014/main" id="{686EFC0B-FA16-48C9-B9FD-22FF1DCC6E9D}"/>
              </a:ext>
            </a:extLst>
          </p:cNvPr>
          <p:cNvSpPr>
            <a:spLocks xmlns:a="http://schemas.openxmlformats.org/drawingml/2006/main" noGrp="1"/>
          </p:cNvSpPr>
          <p:nvPr/>
        </p:nvSpPr>
        <p:spPr>
          <a:xfrm xmlns:a="http://schemas.openxmlformats.org/drawingml/2006/main">
            <a:off x="571500" y="723900"/>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46"/>
                </a:solidFill>
                <a:latin typeface="DejaVu Sans"/>
                <a:ea typeface="DejaVu Sans"/>
                <a:cs typeface="DejaVu Sans"/>
              </a:defRPr>
            </a:pPr>
            <a:r>
              <a:rPr sz="3225" b="1">
                <a:solidFill>
                  <a:srgbClr val="172D46"/>
                </a:solidFill>
                <a:latin typeface="DejaVu Sans"/>
                <a:ea typeface="DejaVu Sans"/>
                <a:cs typeface="DejaVu Sans"/>
              </a:rPr>
              <a:t>Center and Spread Data Lab</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c2b8868c62c4c12"/>
          <a:stretch xmlns:a="http://schemas.openxmlformats.org/drawingml/2006/main"/>
        </p:blipFill>
        <p:spPr>
          <a:xfrm xmlns:a="http://schemas.openxmlformats.org/drawingml/2006/main">
            <a:off x="571500" y="6043613"/>
            <a:ext cx="590550" cy="5905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3702F8F-2A86-4307-A6FA-1F73E3F7B9A8}"/>
              </a:ext>
            </a:extLst>
          </p:cNvPr>
          <p:cNvSpPr>
            <a:spLocks xmlns:a="http://schemas.openxmlformats.org/drawingml/2006/main" noGrp="1"/>
          </p:cNvSpPr>
          <p:nvPr/>
        </p:nvSpPr>
        <p:spPr>
          <a:xfrm xmlns:a="http://schemas.openxmlformats.org/drawingml/2006/main">
            <a:off x="1304925" y="62674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4"/>
                </a:solidFill>
                <a:latin typeface="DejaVu Sans"/>
                <a:ea typeface="DejaVu Sans"/>
                <a:cs typeface="DejaVu Sans"/>
              </a:defRPr>
            </a:pPr>
            <a:r>
              <a:rPr sz="1200" b="0">
                <a:solidFill>
                  <a:srgbClr val="536574"/>
                </a:solidFill>
                <a:latin typeface="DejaVu Sans"/>
                <a:ea typeface="DejaVu Sans"/>
                <a:cs typeface="DejaVu Sans"/>
              </a:rPr>
              <a:t>© 2026 Saint Pierre Learning Resources</a:t>
            </a:r>
          </a:p>
        </p:txBody>
      </p:sp>
      <p:sp>
        <p:nvSpPr>
          <p:cNvPr id="5" name="">
            <a:extLst xmlns:a="http://schemas.openxmlformats.org/drawingml/2006/main">
              <a:ext uri="{FF2B5EF4-FFF2-40B4-BE49-F238E27FC236}">
                <a16:creationId xmlns:a16="http://schemas.microsoft.com/office/drawing/2014/main" id="{1CCBD2B5-0C37-4DA2-9F80-D88E79E30F67}"/>
              </a:ext>
            </a:extLst>
          </p:cNvPr>
          <p:cNvSpPr>
            <a:spLocks xmlns:a="http://schemas.openxmlformats.org/drawingml/2006/main" noGrp="1"/>
          </p:cNvSpPr>
          <p:nvPr/>
        </p:nvSpPr>
        <p:spPr>
          <a:xfrm xmlns:a="http://schemas.openxmlformats.org/drawingml/2006/main">
            <a:off x="11239500" y="62579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4"/>
                </a:solidFill>
                <a:latin typeface="DejaVu Sans"/>
                <a:ea typeface="DejaVu Sans"/>
                <a:cs typeface="DejaVu Sans"/>
              </a:defRPr>
            </a:pPr>
            <a:r>
              <a:rPr sz="1200" b="0">
                <a:solidFill>
                  <a:srgbClr val="536574"/>
                </a:solidFill>
                <a:latin typeface="DejaVu Sans"/>
                <a:ea typeface="DejaVu Sans"/>
                <a:cs typeface="DejaVu Sans"/>
              </a:rPr>
              <a:t>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02287613d51428d"/>
          <a:stretch xmlns:a="http://schemas.openxmlformats.org/drawingml/2006/main"/>
        </p:blipFill>
        <p:spPr>
          <a:xfrm xmlns:a="http://schemas.openxmlformats.org/drawingml/2006/main">
            <a:off x="571500" y="2447925"/>
            <a:ext cx="2000250" cy="2000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6623B0D-C2AC-4F63-864E-DDD99826C9D3}"/>
              </a:ext>
            </a:extLst>
          </p:cNvPr>
          <p:cNvSpPr>
            <a:spLocks xmlns:a="http://schemas.openxmlformats.org/drawingml/2006/main" noGrp="1"/>
          </p:cNvSpPr>
          <p:nvPr/>
        </p:nvSpPr>
        <p:spPr>
          <a:xfrm xmlns:a="http://schemas.openxmlformats.org/drawingml/2006/main">
            <a:off x="3048000" y="2552700"/>
            <a:ext cx="790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46A70"/>
                </a:solidFill>
                <a:latin typeface="DejaVu Sans"/>
                <a:ea typeface="DejaVu Sans"/>
                <a:cs typeface="DejaVu Sans"/>
              </a:defRPr>
            </a:pPr>
            <a:r>
              <a:rPr sz="2250" b="1">
                <a:solidFill>
                  <a:srgbClr val="246A70"/>
                </a:solidFill>
                <a:latin typeface="DejaVu Sans"/>
                <a:ea typeface="DejaVu Sans"/>
                <a:cs typeface="DejaVu Sans"/>
              </a:rPr>
              <a:t>Grade 6 • Mathematics</a:t>
            </a:r>
          </a:p>
          <a:p xmlns:a="http://schemas.openxmlformats.org/drawingml/2006/main">
            <a:pPr>
              <a:defRPr sz="2250" b="1">
                <a:solidFill>
                  <a:srgbClr val="246A70"/>
                </a:solidFill>
                <a:latin typeface="DejaVu Sans"/>
                <a:ea typeface="DejaVu Sans"/>
                <a:cs typeface="DejaVu Sans"/>
              </a:defRPr>
            </a:pPr>
            <a:r>
              <a:rPr sz="2250" b="1">
                <a:solidFill>
                  <a:srgbClr val="246A70"/>
                </a:solidFill>
                <a:latin typeface="DejaVu Sans"/>
                <a:ea typeface="DejaVu Sans"/>
                <a:cs typeface="DejaVu Sans"/>
              </a:rPr>
              <a:t>NC.6.SP.3</a:t>
            </a:r>
          </a:p>
        </p:txBody>
      </p:sp>
      <p:sp>
        <p:nvSpPr>
          <p:cNvPr id="8" name="">
            <a:extLst xmlns:a="http://schemas.openxmlformats.org/drawingml/2006/main">
              <a:ext uri="{FF2B5EF4-FFF2-40B4-BE49-F238E27FC236}">
                <a16:creationId xmlns:a16="http://schemas.microsoft.com/office/drawing/2014/main" id="{8AF3ECA7-E7BE-4AA5-A5B2-232C825F5FAD}"/>
              </a:ext>
            </a:extLst>
          </p:cNvPr>
          <p:cNvSpPr>
            <a:spLocks xmlns:a="http://schemas.openxmlformats.org/drawingml/2006/main" noGrp="1"/>
          </p:cNvSpPr>
          <p:nvPr/>
        </p:nvSpPr>
        <p:spPr>
          <a:xfrm xmlns:a="http://schemas.openxmlformats.org/drawingml/2006/main">
            <a:off x="3048000" y="3743325"/>
            <a:ext cx="795337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2D46"/>
                </a:solidFill>
                <a:latin typeface="DejaVu Sans"/>
                <a:ea typeface="DejaVu Sans"/>
                <a:cs typeface="DejaVu Sans"/>
              </a:defRPr>
            </a:pPr>
            <a:r>
              <a:rPr sz="2400" b="0">
                <a:solidFill>
                  <a:srgbClr val="172D46"/>
                </a:solidFill>
                <a:latin typeface="DejaVu Sans"/>
                <a:ea typeface="DejaVu Sans"/>
                <a:cs typeface="DejaVu Sans"/>
              </a:rPr>
              <a:t>Compare center and variability in data.</a:t>
            </a:r>
          </a:p>
        </p:txBody>
      </p:sp>
    </p:spTree>
    <p:extLst>
      <p:ext uri="{BB962C8B-B14F-4D97-AF65-F5344CB8AC3E}">
        <p14:creationId xmlns:p14="http://schemas.microsoft.com/office/powerpoint/2010/main" val="10980836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DCD71D-05E3-4A26-9A4B-FD12941DCD96}"/>
              </a:ext>
            </a:extLst>
          </p:cNvPr>
          <p:cNvSpPr>
            <a:spLocks xmlns:a="http://schemas.openxmlformats.org/drawingml/2006/main" noGrp="1"/>
          </p:cNvSpPr>
          <p:nvPr/>
        </p:nvSpPr>
        <p:spPr>
          <a:xfrm xmlns:a="http://schemas.openxmlformats.org/drawingml/2006/main">
            <a:off x="571500" y="2476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46A70"/>
                </a:solidFill>
                <a:latin typeface="DejaVu Sans"/>
                <a:ea typeface="DejaVu Sans"/>
                <a:cs typeface="DejaVu Sans"/>
              </a:defRPr>
            </a:pPr>
            <a:r>
              <a:rPr sz="1350" b="1">
                <a:solidFill>
                  <a:srgbClr val="246A70"/>
                </a:solidFill>
                <a:latin typeface="DejaVu Sans"/>
                <a:ea typeface="DejaVu Sans"/>
                <a:cs typeface="DejaVu Sans"/>
              </a:rPr>
              <a:t>LEARN • EXPLAIN • CHECK</a:t>
            </a:r>
          </a:p>
        </p:txBody>
      </p:sp>
      <p:sp>
        <p:nvSpPr>
          <p:cNvPr id="2" name="">
            <a:extLst xmlns:a="http://schemas.openxmlformats.org/drawingml/2006/main">
              <a:ext uri="{FF2B5EF4-FFF2-40B4-BE49-F238E27FC236}">
                <a16:creationId xmlns:a16="http://schemas.microsoft.com/office/drawing/2014/main" id="{39B45B63-6DA7-4A6C-8670-AB4E2697C7A1}"/>
              </a:ext>
            </a:extLst>
          </p:cNvPr>
          <p:cNvSpPr>
            <a:spLocks xmlns:a="http://schemas.openxmlformats.org/drawingml/2006/main" noGrp="1"/>
          </p:cNvSpPr>
          <p:nvPr/>
        </p:nvSpPr>
        <p:spPr>
          <a:xfrm xmlns:a="http://schemas.openxmlformats.org/drawingml/2006/main">
            <a:off x="571500" y="723900"/>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46"/>
                </a:solidFill>
                <a:latin typeface="DejaVu Sans"/>
                <a:ea typeface="DejaVu Sans"/>
                <a:cs typeface="DejaVu Sans"/>
              </a:defRPr>
            </a:pPr>
            <a:r>
              <a:rPr sz="3225" b="1">
                <a:solidFill>
                  <a:srgbClr val="172D46"/>
                </a:solidFill>
                <a:latin typeface="DejaVu Sans"/>
                <a:ea typeface="DejaVu Sans"/>
                <a:cs typeface="DejaVu Sans"/>
              </a:rPr>
              <a:t>What will a strong explanation show?</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63b5725a02e4ee8"/>
          <a:stretch xmlns:a="http://schemas.openxmlformats.org/drawingml/2006/main"/>
        </p:blipFill>
        <p:spPr>
          <a:xfrm xmlns:a="http://schemas.openxmlformats.org/drawingml/2006/main">
            <a:off x="571500" y="6043613"/>
            <a:ext cx="590550" cy="5905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FB4419E-5F1E-44C5-8F46-710E34B6C4AA}"/>
              </a:ext>
            </a:extLst>
          </p:cNvPr>
          <p:cNvSpPr>
            <a:spLocks xmlns:a="http://schemas.openxmlformats.org/drawingml/2006/main" noGrp="1"/>
          </p:cNvSpPr>
          <p:nvPr/>
        </p:nvSpPr>
        <p:spPr>
          <a:xfrm xmlns:a="http://schemas.openxmlformats.org/drawingml/2006/main">
            <a:off x="1304925" y="62674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4"/>
                </a:solidFill>
                <a:latin typeface="DejaVu Sans"/>
                <a:ea typeface="DejaVu Sans"/>
                <a:cs typeface="DejaVu Sans"/>
              </a:defRPr>
            </a:pPr>
            <a:r>
              <a:rPr sz="1200" b="0">
                <a:solidFill>
                  <a:srgbClr val="536574"/>
                </a:solidFill>
                <a:latin typeface="DejaVu Sans"/>
                <a:ea typeface="DejaVu Sans"/>
                <a:cs typeface="DejaVu Sans"/>
              </a:rPr>
              <a:t>© 2026 Saint Pierre Learning Resources</a:t>
            </a:r>
          </a:p>
        </p:txBody>
      </p:sp>
      <p:sp>
        <p:nvSpPr>
          <p:cNvPr id="5" name="">
            <a:extLst xmlns:a="http://schemas.openxmlformats.org/drawingml/2006/main">
              <a:ext uri="{FF2B5EF4-FFF2-40B4-BE49-F238E27FC236}">
                <a16:creationId xmlns:a16="http://schemas.microsoft.com/office/drawing/2014/main" id="{991E1417-CDF6-4E46-BDB3-821FBFA6012C}"/>
              </a:ext>
            </a:extLst>
          </p:cNvPr>
          <p:cNvSpPr>
            <a:spLocks xmlns:a="http://schemas.openxmlformats.org/drawingml/2006/main" noGrp="1"/>
          </p:cNvSpPr>
          <p:nvPr/>
        </p:nvSpPr>
        <p:spPr>
          <a:xfrm xmlns:a="http://schemas.openxmlformats.org/drawingml/2006/main">
            <a:off x="11239500" y="62579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4"/>
                </a:solidFill>
                <a:latin typeface="DejaVu Sans"/>
                <a:ea typeface="DejaVu Sans"/>
                <a:cs typeface="DejaVu Sans"/>
              </a:defRPr>
            </a:pPr>
            <a:r>
              <a:rPr sz="1200" b="0">
                <a:solidFill>
                  <a:srgbClr val="536574"/>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374E3CE2-288E-404D-8FAC-F137B3B80CBC}"/>
              </a:ext>
            </a:extLst>
          </p:cNvPr>
          <p:cNvSpPr>
            <a:spLocks xmlns:a="http://schemas.openxmlformats.org/drawingml/2006/main" noGrp="1"/>
          </p:cNvSpPr>
          <p:nvPr/>
        </p:nvSpPr>
        <p:spPr>
          <a:xfrm xmlns:a="http://schemas.openxmlformats.org/drawingml/2006/main">
            <a:off x="619125" y="2238375"/>
            <a:ext cx="10858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2D46"/>
                </a:solidFill>
                <a:latin typeface="DejaVu Sans"/>
                <a:ea typeface="DejaVu Sans"/>
                <a:cs typeface="DejaVu Sans"/>
              </a:defRPr>
            </a:pPr>
            <a:r>
              <a:rPr sz="2400" b="0">
                <a:solidFill>
                  <a:srgbClr val="172D46"/>
                </a:solidFill>
                <a:latin typeface="DejaVu Sans"/>
                <a:ea typeface="DejaVu Sans"/>
                <a:cs typeface="DejaVu Sans"/>
              </a:rPr>
              <a:t>1. A model or equation that fits the quantities.</a:t>
            </a:r>
          </a:p>
          <a:p xmlns:a="http://schemas.openxmlformats.org/drawingml/2006/main">
            <a:r>
              <a:t/>
            </a:r>
          </a:p>
          <a:p xmlns:a="http://schemas.openxmlformats.org/drawingml/2006/main">
            <a:pPr>
              <a:defRPr sz="2400" b="0">
                <a:solidFill>
                  <a:srgbClr val="172D46"/>
                </a:solidFill>
                <a:latin typeface="DejaVu Sans"/>
                <a:ea typeface="DejaVu Sans"/>
                <a:cs typeface="DejaVu Sans"/>
              </a:defRPr>
            </a:pPr>
            <a:r>
              <a:rPr sz="2400" b="0">
                <a:solidFill>
                  <a:srgbClr val="172D46"/>
                </a:solidFill>
                <a:latin typeface="DejaVu Sans"/>
                <a:ea typeface="DejaVu Sans"/>
                <a:cs typeface="DejaVu Sans"/>
              </a:rPr>
              <a:t>2. Accurate calculation with appropriate units.</a:t>
            </a:r>
          </a:p>
          <a:p xmlns:a="http://schemas.openxmlformats.org/drawingml/2006/main">
            <a:r>
              <a:t/>
            </a:r>
          </a:p>
          <a:p xmlns:a="http://schemas.openxmlformats.org/drawingml/2006/main">
            <a:pPr>
              <a:defRPr sz="2400" b="0">
                <a:solidFill>
                  <a:srgbClr val="172D46"/>
                </a:solidFill>
                <a:latin typeface="DejaVu Sans"/>
                <a:ea typeface="DejaVu Sans"/>
                <a:cs typeface="DejaVu Sans"/>
              </a:defRPr>
            </a:pPr>
            <a:r>
              <a:rPr sz="2400" b="0">
                <a:solidFill>
                  <a:srgbClr val="172D46"/>
                </a:solidFill>
                <a:latin typeface="DejaVu Sans"/>
                <a:ea typeface="DejaVu Sans"/>
                <a:cs typeface="DejaVu Sans"/>
              </a:rPr>
              <a:t>3. A check that makes the answer reasonable.</a:t>
            </a:r>
          </a:p>
        </p:txBody>
      </p:sp>
    </p:spTree>
    <p:extLst>
      <p:ext uri="{BB962C8B-B14F-4D97-AF65-F5344CB8AC3E}">
        <p14:creationId xmlns:p14="http://schemas.microsoft.com/office/powerpoint/2010/main" val="21029386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2A0995B-7393-4CA0-A39F-4A2E0DD03817}"/>
              </a:ext>
            </a:extLst>
          </p:cNvPr>
          <p:cNvSpPr>
            <a:spLocks xmlns:a="http://schemas.openxmlformats.org/drawingml/2006/main" noGrp="1"/>
          </p:cNvSpPr>
          <p:nvPr/>
        </p:nvSpPr>
        <p:spPr>
          <a:xfrm xmlns:a="http://schemas.openxmlformats.org/drawingml/2006/main">
            <a:off x="571500" y="2476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46A70"/>
                </a:solidFill>
                <a:latin typeface="DejaVu Sans"/>
                <a:ea typeface="DejaVu Sans"/>
                <a:cs typeface="DejaVu Sans"/>
              </a:defRPr>
            </a:pPr>
            <a:r>
              <a:rPr sz="1350" b="1">
                <a:solidFill>
                  <a:srgbClr val="246A70"/>
                </a:solidFill>
                <a:latin typeface="DejaVu Sans"/>
                <a:ea typeface="DejaVu Sans"/>
                <a:cs typeface="DejaVu Sans"/>
              </a:rPr>
              <a:t>LEARN • EXPLAIN • CHECK</a:t>
            </a:r>
          </a:p>
        </p:txBody>
      </p:sp>
      <p:sp>
        <p:nvSpPr>
          <p:cNvPr id="2" name="">
            <a:extLst xmlns:a="http://schemas.openxmlformats.org/drawingml/2006/main">
              <a:ext uri="{FF2B5EF4-FFF2-40B4-BE49-F238E27FC236}">
                <a16:creationId xmlns:a16="http://schemas.microsoft.com/office/drawing/2014/main" id="{E027BCA7-E54A-45AC-9A18-788C0288A6C3}"/>
              </a:ext>
            </a:extLst>
          </p:cNvPr>
          <p:cNvSpPr>
            <a:spLocks xmlns:a="http://schemas.openxmlformats.org/drawingml/2006/main" noGrp="1"/>
          </p:cNvSpPr>
          <p:nvPr/>
        </p:nvSpPr>
        <p:spPr>
          <a:xfrm xmlns:a="http://schemas.openxmlformats.org/drawingml/2006/main">
            <a:off x="571500" y="723900"/>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46"/>
                </a:solidFill>
                <a:latin typeface="DejaVu Sans"/>
                <a:ea typeface="DejaVu Sans"/>
                <a:cs typeface="DejaVu Sans"/>
              </a:defRPr>
            </a:pPr>
            <a:r>
              <a:rPr sz="3225" b="1">
                <a:solidFill>
                  <a:srgbClr val="172D46"/>
                </a:solidFill>
                <a:latin typeface="DejaVu Sans"/>
                <a:ea typeface="DejaVu Sans"/>
                <a:cs typeface="DejaVu Sans"/>
              </a:rPr>
              <a:t>Watch the reasoning</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3196876b7e1465c"/>
          <a:stretch xmlns:a="http://schemas.openxmlformats.org/drawingml/2006/main"/>
        </p:blipFill>
        <p:spPr>
          <a:xfrm xmlns:a="http://schemas.openxmlformats.org/drawingml/2006/main">
            <a:off x="571500" y="6043613"/>
            <a:ext cx="590550" cy="5905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88363F7-84D0-443F-82B8-2D4BB68465C0}"/>
              </a:ext>
            </a:extLst>
          </p:cNvPr>
          <p:cNvSpPr>
            <a:spLocks xmlns:a="http://schemas.openxmlformats.org/drawingml/2006/main" noGrp="1"/>
          </p:cNvSpPr>
          <p:nvPr/>
        </p:nvSpPr>
        <p:spPr>
          <a:xfrm xmlns:a="http://schemas.openxmlformats.org/drawingml/2006/main">
            <a:off x="1304925" y="62674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4"/>
                </a:solidFill>
                <a:latin typeface="DejaVu Sans"/>
                <a:ea typeface="DejaVu Sans"/>
                <a:cs typeface="DejaVu Sans"/>
              </a:defRPr>
            </a:pPr>
            <a:r>
              <a:rPr sz="1200" b="0">
                <a:solidFill>
                  <a:srgbClr val="536574"/>
                </a:solidFill>
                <a:latin typeface="DejaVu Sans"/>
                <a:ea typeface="DejaVu Sans"/>
                <a:cs typeface="DejaVu Sans"/>
              </a:rPr>
              <a:t>© 2026 Saint Pierre Learning Resources</a:t>
            </a:r>
          </a:p>
        </p:txBody>
      </p:sp>
      <p:sp>
        <p:nvSpPr>
          <p:cNvPr id="5" name="">
            <a:extLst xmlns:a="http://schemas.openxmlformats.org/drawingml/2006/main">
              <a:ext uri="{FF2B5EF4-FFF2-40B4-BE49-F238E27FC236}">
                <a16:creationId xmlns:a16="http://schemas.microsoft.com/office/drawing/2014/main" id="{2AB56DB8-29D5-4F7B-9AE0-800A9306AB57}"/>
              </a:ext>
            </a:extLst>
          </p:cNvPr>
          <p:cNvSpPr>
            <a:spLocks xmlns:a="http://schemas.openxmlformats.org/drawingml/2006/main" noGrp="1"/>
          </p:cNvSpPr>
          <p:nvPr/>
        </p:nvSpPr>
        <p:spPr>
          <a:xfrm xmlns:a="http://schemas.openxmlformats.org/drawingml/2006/main">
            <a:off x="11239500" y="62579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4"/>
                </a:solidFill>
                <a:latin typeface="DejaVu Sans"/>
                <a:ea typeface="DejaVu Sans"/>
                <a:cs typeface="DejaVu Sans"/>
              </a:defRPr>
            </a:pPr>
            <a:r>
              <a:rPr sz="1200" b="0">
                <a:solidFill>
                  <a:srgbClr val="536574"/>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35484E0F-880F-4107-9BC8-E7AA49B75BF3}"/>
              </a:ext>
            </a:extLst>
          </p:cNvPr>
          <p:cNvSpPr>
            <a:spLocks xmlns:a="http://schemas.openxmlformats.org/drawingml/2006/main" noGrp="1"/>
          </p:cNvSpPr>
          <p:nvPr/>
        </p:nvSpPr>
        <p:spPr>
          <a:xfrm xmlns:a="http://schemas.openxmlformats.org/drawingml/2006/main">
            <a:off x="619125" y="2133600"/>
            <a:ext cx="10858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2D46"/>
                </a:solidFill>
                <a:latin typeface="DejaVu Sans"/>
                <a:ea typeface="DejaVu Sans"/>
                <a:cs typeface="DejaVu Sans"/>
              </a:defRPr>
            </a:pPr>
            <a:r>
              <a:rPr sz="2175" b="1">
                <a:solidFill>
                  <a:srgbClr val="172D46"/>
                </a:solidFill>
                <a:latin typeface="DejaVu Sans"/>
                <a:ea typeface="DejaVu Sans"/>
                <a:cs typeface="DejaVu Sans"/>
              </a:rPr>
              <a:t>Set A: 5, 7, 9, 11, 13. Set B: 5, 7, 9, 11, 23. Find the mean, median, and range of both sets. Explain what changed.</a:t>
            </a:r>
          </a:p>
        </p:txBody>
      </p:sp>
      <p:sp>
        <p:nvSpPr>
          <p:cNvPr id="7" name="">
            <a:extLst xmlns:a="http://schemas.openxmlformats.org/drawingml/2006/main">
              <a:ext uri="{FF2B5EF4-FFF2-40B4-BE49-F238E27FC236}">
                <a16:creationId xmlns:a16="http://schemas.microsoft.com/office/drawing/2014/main" id="{DDDDC99A-0CFD-4337-9B3E-67AA3EB74B82}"/>
              </a:ext>
            </a:extLst>
          </p:cNvPr>
          <p:cNvSpPr>
            <a:spLocks xmlns:a="http://schemas.openxmlformats.org/drawingml/2006/main" noGrp="1"/>
          </p:cNvSpPr>
          <p:nvPr/>
        </p:nvSpPr>
        <p:spPr>
          <a:xfrm xmlns:a="http://schemas.openxmlformats.org/drawingml/2006/main">
            <a:off x="619125" y="4162425"/>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46A70"/>
                </a:solidFill>
                <a:latin typeface="DejaVu Sans"/>
                <a:ea typeface="DejaVu Sans"/>
                <a:cs typeface="DejaVu Sans"/>
              </a:defRPr>
            </a:pPr>
            <a:r>
              <a:rPr sz="2175" b="0">
                <a:solidFill>
                  <a:srgbClr val="246A70"/>
                </a:solidFill>
                <a:latin typeface="DejaVu Sans"/>
                <a:ea typeface="DejaVu Sans"/>
                <a:cs typeface="DejaVu Sans"/>
              </a:rPr>
              <a:t>A mean = 45/5 = 9; B mean = 55/5 = 11. The third value is the median in each ordered set. Increasing the greatest value raises mean and range, not median.</a:t>
            </a:r>
          </a:p>
        </p:txBody>
      </p:sp>
    </p:spTree>
    <p:extLst>
      <p:ext uri="{BB962C8B-B14F-4D97-AF65-F5344CB8AC3E}">
        <p14:creationId xmlns:p14="http://schemas.microsoft.com/office/powerpoint/2010/main" val="157969376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97E308-7F58-4EBE-A967-71AB60AD691E}"/>
              </a:ext>
            </a:extLst>
          </p:cNvPr>
          <p:cNvSpPr>
            <a:spLocks xmlns:a="http://schemas.openxmlformats.org/drawingml/2006/main" noGrp="1"/>
          </p:cNvSpPr>
          <p:nvPr/>
        </p:nvSpPr>
        <p:spPr>
          <a:xfrm xmlns:a="http://schemas.openxmlformats.org/drawingml/2006/main">
            <a:off x="571500" y="2476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46A70"/>
                </a:solidFill>
                <a:latin typeface="DejaVu Sans"/>
                <a:ea typeface="DejaVu Sans"/>
                <a:cs typeface="DejaVu Sans"/>
              </a:defRPr>
            </a:pPr>
            <a:r>
              <a:rPr sz="1350" b="1">
                <a:solidFill>
                  <a:srgbClr val="246A70"/>
                </a:solidFill>
                <a:latin typeface="DejaVu Sans"/>
                <a:ea typeface="DejaVu Sans"/>
                <a:cs typeface="DejaVu Sans"/>
              </a:rPr>
              <a:t>LEARN • EXPLAIN • CHECK</a:t>
            </a:r>
          </a:p>
        </p:txBody>
      </p:sp>
      <p:sp>
        <p:nvSpPr>
          <p:cNvPr id="2" name="">
            <a:extLst xmlns:a="http://schemas.openxmlformats.org/drawingml/2006/main">
              <a:ext uri="{FF2B5EF4-FFF2-40B4-BE49-F238E27FC236}">
                <a16:creationId xmlns:a16="http://schemas.microsoft.com/office/drawing/2014/main" id="{E432ED44-973A-4F97-A8A2-01BD9413BAD8}"/>
              </a:ext>
            </a:extLst>
          </p:cNvPr>
          <p:cNvSpPr>
            <a:spLocks xmlns:a="http://schemas.openxmlformats.org/drawingml/2006/main" noGrp="1"/>
          </p:cNvSpPr>
          <p:nvPr/>
        </p:nvSpPr>
        <p:spPr>
          <a:xfrm xmlns:a="http://schemas.openxmlformats.org/drawingml/2006/main">
            <a:off x="571500" y="723900"/>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46"/>
                </a:solidFill>
                <a:latin typeface="DejaVu Sans"/>
                <a:ea typeface="DejaVu Sans"/>
                <a:cs typeface="DejaVu Sans"/>
              </a:defRPr>
            </a:pPr>
            <a:r>
              <a:rPr sz="3225" b="1">
                <a:solidFill>
                  <a:srgbClr val="172D46"/>
                </a:solidFill>
                <a:latin typeface="DejaVu Sans"/>
                <a:ea typeface="DejaVu Sans"/>
                <a:cs typeface="DejaVu Sans"/>
              </a:rPr>
              <a:t>Build a second model together</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f298b829d1c4b24"/>
          <a:stretch xmlns:a="http://schemas.openxmlformats.org/drawingml/2006/main"/>
        </p:blipFill>
        <p:spPr>
          <a:xfrm xmlns:a="http://schemas.openxmlformats.org/drawingml/2006/main">
            <a:off x="571500" y="6043613"/>
            <a:ext cx="590550" cy="5905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323A2E1-08FE-40EF-A00B-78F493FA4888}"/>
              </a:ext>
            </a:extLst>
          </p:cNvPr>
          <p:cNvSpPr>
            <a:spLocks xmlns:a="http://schemas.openxmlformats.org/drawingml/2006/main" noGrp="1"/>
          </p:cNvSpPr>
          <p:nvPr/>
        </p:nvSpPr>
        <p:spPr>
          <a:xfrm xmlns:a="http://schemas.openxmlformats.org/drawingml/2006/main">
            <a:off x="1304925" y="62674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4"/>
                </a:solidFill>
                <a:latin typeface="DejaVu Sans"/>
                <a:ea typeface="DejaVu Sans"/>
                <a:cs typeface="DejaVu Sans"/>
              </a:defRPr>
            </a:pPr>
            <a:r>
              <a:rPr sz="1200" b="0">
                <a:solidFill>
                  <a:srgbClr val="536574"/>
                </a:solidFill>
                <a:latin typeface="DejaVu Sans"/>
                <a:ea typeface="DejaVu Sans"/>
                <a:cs typeface="DejaVu Sans"/>
              </a:rPr>
              <a:t>© 2026 Saint Pierre Learning Resources</a:t>
            </a:r>
          </a:p>
        </p:txBody>
      </p:sp>
      <p:sp>
        <p:nvSpPr>
          <p:cNvPr id="5" name="">
            <a:extLst xmlns:a="http://schemas.openxmlformats.org/drawingml/2006/main">
              <a:ext uri="{FF2B5EF4-FFF2-40B4-BE49-F238E27FC236}">
                <a16:creationId xmlns:a16="http://schemas.microsoft.com/office/drawing/2014/main" id="{1EF7A06C-507B-467C-A230-0EB513055127}"/>
              </a:ext>
            </a:extLst>
          </p:cNvPr>
          <p:cNvSpPr>
            <a:spLocks xmlns:a="http://schemas.openxmlformats.org/drawingml/2006/main" noGrp="1"/>
          </p:cNvSpPr>
          <p:nvPr/>
        </p:nvSpPr>
        <p:spPr>
          <a:xfrm xmlns:a="http://schemas.openxmlformats.org/drawingml/2006/main">
            <a:off x="11239500" y="62579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4"/>
                </a:solidFill>
                <a:latin typeface="DejaVu Sans"/>
                <a:ea typeface="DejaVu Sans"/>
                <a:cs typeface="DejaVu Sans"/>
              </a:defRPr>
            </a:pPr>
            <a:r>
              <a:rPr sz="1200" b="0">
                <a:solidFill>
                  <a:srgbClr val="536574"/>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BE6996C1-1070-4102-8F05-D70BDC7B3E91}"/>
              </a:ext>
            </a:extLst>
          </p:cNvPr>
          <p:cNvSpPr>
            <a:spLocks xmlns:a="http://schemas.openxmlformats.org/drawingml/2006/main" noGrp="1"/>
          </p:cNvSpPr>
          <p:nvPr/>
        </p:nvSpPr>
        <p:spPr>
          <a:xfrm xmlns:a="http://schemas.openxmlformats.org/drawingml/2006/main">
            <a:off x="619125" y="2076450"/>
            <a:ext cx="1085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46"/>
                </a:solidFill>
                <a:latin typeface="DejaVu Sans"/>
                <a:ea typeface="DejaVu Sans"/>
                <a:cs typeface="DejaVu Sans"/>
              </a:defRPr>
            </a:pPr>
            <a:r>
              <a:rPr sz="2250" b="0">
                <a:solidFill>
                  <a:srgbClr val="172D46"/>
                </a:solidFill>
                <a:latin typeface="DejaVu Sans"/>
                <a:ea typeface="DejaVu Sans"/>
                <a:cs typeface="DejaVu Sans"/>
              </a:rPr>
              <a:t>Set A: 6, 8, 10, 12, 14. Set B: 6, 8, 10, 12, 24. Find the mean, median, and range of both sets. Explain what changed.</a:t>
            </a:r>
          </a:p>
        </p:txBody>
      </p:sp>
      <p:sp>
        <p:nvSpPr>
          <p:cNvPr id="7" name="">
            <a:extLst xmlns:a="http://schemas.openxmlformats.org/drawingml/2006/main">
              <a:ext uri="{FF2B5EF4-FFF2-40B4-BE49-F238E27FC236}">
                <a16:creationId xmlns:a16="http://schemas.microsoft.com/office/drawing/2014/main" id="{8C0F897A-4C5E-4FB0-B92C-86331638D431}"/>
              </a:ext>
            </a:extLst>
          </p:cNvPr>
          <p:cNvSpPr>
            <a:spLocks xmlns:a="http://schemas.openxmlformats.org/drawingml/2006/main" noGrp="1"/>
          </p:cNvSpPr>
          <p:nvPr/>
        </p:nvSpPr>
        <p:spPr>
          <a:xfrm xmlns:a="http://schemas.openxmlformats.org/drawingml/2006/main">
            <a:off x="619125" y="48577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46A70"/>
                </a:solidFill>
                <a:latin typeface="DejaVu Sans"/>
                <a:ea typeface="DejaVu Sans"/>
                <a:cs typeface="DejaVu Sans"/>
              </a:defRPr>
            </a:pPr>
            <a:r>
              <a:rPr sz="2100" b="1">
                <a:solidFill>
                  <a:srgbClr val="246A70"/>
                </a:solidFill>
                <a:latin typeface="DejaVu Sans"/>
                <a:ea typeface="DejaVu Sans"/>
                <a:cs typeface="DejaVu Sans"/>
              </a:rPr>
              <a:t>Discuss: What should the first step find?</a:t>
            </a:r>
          </a:p>
        </p:txBody>
      </p:sp>
    </p:spTree>
    <p:extLst>
      <p:ext uri="{BB962C8B-B14F-4D97-AF65-F5344CB8AC3E}">
        <p14:creationId xmlns:p14="http://schemas.microsoft.com/office/powerpoint/2010/main" val="15621227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8019174-ABCB-4A1E-889F-14DB308D8A95}"/>
              </a:ext>
            </a:extLst>
          </p:cNvPr>
          <p:cNvSpPr>
            <a:spLocks xmlns:a="http://schemas.openxmlformats.org/drawingml/2006/main" noGrp="1"/>
          </p:cNvSpPr>
          <p:nvPr/>
        </p:nvSpPr>
        <p:spPr>
          <a:xfrm xmlns:a="http://schemas.openxmlformats.org/drawingml/2006/main">
            <a:off x="571500" y="2476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46A70"/>
                </a:solidFill>
                <a:latin typeface="DejaVu Sans"/>
                <a:ea typeface="DejaVu Sans"/>
                <a:cs typeface="DejaVu Sans"/>
              </a:defRPr>
            </a:pPr>
            <a:r>
              <a:rPr sz="1350" b="1">
                <a:solidFill>
                  <a:srgbClr val="246A70"/>
                </a:solidFill>
                <a:latin typeface="DejaVu Sans"/>
                <a:ea typeface="DejaVu Sans"/>
                <a:cs typeface="DejaVu Sans"/>
              </a:rPr>
              <a:t>LEARN • EXPLAIN • CHECK</a:t>
            </a:r>
          </a:p>
        </p:txBody>
      </p:sp>
      <p:sp>
        <p:nvSpPr>
          <p:cNvPr id="2" name="">
            <a:extLst xmlns:a="http://schemas.openxmlformats.org/drawingml/2006/main">
              <a:ext uri="{FF2B5EF4-FFF2-40B4-BE49-F238E27FC236}">
                <a16:creationId xmlns:a16="http://schemas.microsoft.com/office/drawing/2014/main" id="{BC7071B9-4274-4DDD-A76F-92AE7998ECE8}"/>
              </a:ext>
            </a:extLst>
          </p:cNvPr>
          <p:cNvSpPr>
            <a:spLocks xmlns:a="http://schemas.openxmlformats.org/drawingml/2006/main" noGrp="1"/>
          </p:cNvSpPr>
          <p:nvPr/>
        </p:nvSpPr>
        <p:spPr>
          <a:xfrm xmlns:a="http://schemas.openxmlformats.org/drawingml/2006/main">
            <a:off x="571500" y="723900"/>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46"/>
                </a:solidFill>
                <a:latin typeface="DejaVu Sans"/>
                <a:ea typeface="DejaVu Sans"/>
                <a:cs typeface="DejaVu Sans"/>
              </a:defRPr>
            </a:pPr>
            <a:r>
              <a:rPr sz="3225" b="1">
                <a:solidFill>
                  <a:srgbClr val="172D46"/>
                </a:solidFill>
                <a:latin typeface="DejaVu Sans"/>
                <a:ea typeface="DejaVu Sans"/>
                <a:cs typeface="DejaVu Sans"/>
              </a:rPr>
              <a:t>Your turn • 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19e541109a74c8d"/>
          <a:stretch xmlns:a="http://schemas.openxmlformats.org/drawingml/2006/main"/>
        </p:blipFill>
        <p:spPr>
          <a:xfrm xmlns:a="http://schemas.openxmlformats.org/drawingml/2006/main">
            <a:off x="571500" y="6043613"/>
            <a:ext cx="590550" cy="5905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564E9DB-0DE9-490A-87F6-57CA6EED1DA2}"/>
              </a:ext>
            </a:extLst>
          </p:cNvPr>
          <p:cNvSpPr>
            <a:spLocks xmlns:a="http://schemas.openxmlformats.org/drawingml/2006/main" noGrp="1"/>
          </p:cNvSpPr>
          <p:nvPr/>
        </p:nvSpPr>
        <p:spPr>
          <a:xfrm xmlns:a="http://schemas.openxmlformats.org/drawingml/2006/main">
            <a:off x="1304925" y="62674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4"/>
                </a:solidFill>
                <a:latin typeface="DejaVu Sans"/>
                <a:ea typeface="DejaVu Sans"/>
                <a:cs typeface="DejaVu Sans"/>
              </a:defRPr>
            </a:pPr>
            <a:r>
              <a:rPr sz="1200" b="0">
                <a:solidFill>
                  <a:srgbClr val="536574"/>
                </a:solidFill>
                <a:latin typeface="DejaVu Sans"/>
                <a:ea typeface="DejaVu Sans"/>
                <a:cs typeface="DejaVu Sans"/>
              </a:rPr>
              <a:t>© 2026 Saint Pierre Learning Resources</a:t>
            </a:r>
          </a:p>
        </p:txBody>
      </p:sp>
      <p:sp>
        <p:nvSpPr>
          <p:cNvPr id="5" name="">
            <a:extLst xmlns:a="http://schemas.openxmlformats.org/drawingml/2006/main">
              <a:ext uri="{FF2B5EF4-FFF2-40B4-BE49-F238E27FC236}">
                <a16:creationId xmlns:a16="http://schemas.microsoft.com/office/drawing/2014/main" id="{D038F50A-195B-4859-B418-CC7E3B154A7C}"/>
              </a:ext>
            </a:extLst>
          </p:cNvPr>
          <p:cNvSpPr>
            <a:spLocks xmlns:a="http://schemas.openxmlformats.org/drawingml/2006/main" noGrp="1"/>
          </p:cNvSpPr>
          <p:nvPr/>
        </p:nvSpPr>
        <p:spPr>
          <a:xfrm xmlns:a="http://schemas.openxmlformats.org/drawingml/2006/main">
            <a:off x="11239500" y="62579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4"/>
                </a:solidFill>
                <a:latin typeface="DejaVu Sans"/>
                <a:ea typeface="DejaVu Sans"/>
                <a:cs typeface="DejaVu Sans"/>
              </a:defRPr>
            </a:pPr>
            <a:r>
              <a:rPr sz="1200" b="0">
                <a:solidFill>
                  <a:srgbClr val="536574"/>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11E1F47D-6441-468D-83CE-19E0F6C9D58C}"/>
              </a:ext>
            </a:extLst>
          </p:cNvPr>
          <p:cNvSpPr>
            <a:spLocks xmlns:a="http://schemas.openxmlformats.org/drawingml/2006/main" noGrp="1"/>
          </p:cNvSpPr>
          <p:nvPr/>
        </p:nvSpPr>
        <p:spPr>
          <a:xfrm xmlns:a="http://schemas.openxmlformats.org/drawingml/2006/main">
            <a:off x="619125" y="2162175"/>
            <a:ext cx="10810875"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2D46"/>
                </a:solidFill>
                <a:latin typeface="DejaVu Sans"/>
                <a:ea typeface="DejaVu Sans"/>
                <a:cs typeface="DejaVu Sans"/>
              </a:defRPr>
            </a:pPr>
            <a:r>
              <a:rPr sz="2475" b="0">
                <a:solidFill>
                  <a:srgbClr val="172D46"/>
                </a:solidFill>
                <a:latin typeface="DejaVu Sans"/>
                <a:ea typeface="DejaVu Sans"/>
                <a:cs typeface="DejaVu Sans"/>
              </a:rPr>
              <a:t>Set A: 2, 4, 6, 8, 10. Set B: 2, 4, 6, 8, 20. Find the mean, median, and range of both sets. Explain what changed.</a:t>
            </a:r>
          </a:p>
        </p:txBody>
      </p:sp>
      <p:sp>
        <p:nvSpPr>
          <p:cNvPr id="7" name="">
            <a:extLst xmlns:a="http://schemas.openxmlformats.org/drawingml/2006/main">
              <a:ext uri="{FF2B5EF4-FFF2-40B4-BE49-F238E27FC236}">
                <a16:creationId xmlns:a16="http://schemas.microsoft.com/office/drawing/2014/main" id="{AE68D96C-D7B4-4466-B437-7B613EC8EF1D}"/>
              </a:ext>
            </a:extLst>
          </p:cNvPr>
          <p:cNvSpPr>
            <a:spLocks xmlns:a="http://schemas.openxmlformats.org/drawingml/2006/main" noGrp="1"/>
          </p:cNvSpPr>
          <p:nvPr/>
        </p:nvSpPr>
        <p:spPr>
          <a:xfrm xmlns:a="http://schemas.openxmlformats.org/drawingml/2006/main">
            <a:off x="619125" y="5172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46A70"/>
                </a:solidFill>
                <a:latin typeface="DejaVu Sans"/>
                <a:ea typeface="DejaVu Sans"/>
                <a:cs typeface="DejaVu Sans"/>
              </a:defRPr>
            </a:pPr>
            <a:r>
              <a:rPr sz="2025" b="1">
                <a:solidFill>
                  <a:srgbClr val="246A70"/>
                </a:solidFill>
                <a:latin typeface="DejaVu Sans"/>
                <a:ea typeface="DejaVu Sans"/>
                <a:cs typeface="DejaVu Sans"/>
              </a:rPr>
              <a:t>Represent → solve → explain → check</a:t>
            </a:r>
          </a:p>
        </p:txBody>
      </p:sp>
    </p:spTree>
    <p:extLst>
      <p:ext uri="{BB962C8B-B14F-4D97-AF65-F5344CB8AC3E}">
        <p14:creationId xmlns:p14="http://schemas.microsoft.com/office/powerpoint/2010/main" val="19387012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4A20B6E-6C8B-48EC-8ADA-9FD7008A0D0B}"/>
              </a:ext>
            </a:extLst>
          </p:cNvPr>
          <p:cNvSpPr>
            <a:spLocks xmlns:a="http://schemas.openxmlformats.org/drawingml/2006/main" noGrp="1"/>
          </p:cNvSpPr>
          <p:nvPr/>
        </p:nvSpPr>
        <p:spPr>
          <a:xfrm xmlns:a="http://schemas.openxmlformats.org/drawingml/2006/main">
            <a:off x="571500" y="2476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46A70"/>
                </a:solidFill>
                <a:latin typeface="DejaVu Sans"/>
                <a:ea typeface="DejaVu Sans"/>
                <a:cs typeface="DejaVu Sans"/>
              </a:defRPr>
            </a:pPr>
            <a:r>
              <a:rPr sz="1350" b="1">
                <a:solidFill>
                  <a:srgbClr val="246A70"/>
                </a:solidFill>
                <a:latin typeface="DejaVu Sans"/>
                <a:ea typeface="DejaVu Sans"/>
                <a:cs typeface="DejaVu Sans"/>
              </a:rPr>
              <a:t>LEARN • EXPLAIN • CHECK</a:t>
            </a:r>
          </a:p>
        </p:txBody>
      </p:sp>
      <p:sp>
        <p:nvSpPr>
          <p:cNvPr id="2" name="">
            <a:extLst xmlns:a="http://schemas.openxmlformats.org/drawingml/2006/main">
              <a:ext uri="{FF2B5EF4-FFF2-40B4-BE49-F238E27FC236}">
                <a16:creationId xmlns:a16="http://schemas.microsoft.com/office/drawing/2014/main" id="{D383388C-8722-45F4-9F66-33003621CCCB}"/>
              </a:ext>
            </a:extLst>
          </p:cNvPr>
          <p:cNvSpPr>
            <a:spLocks xmlns:a="http://schemas.openxmlformats.org/drawingml/2006/main" noGrp="1"/>
          </p:cNvSpPr>
          <p:nvPr/>
        </p:nvSpPr>
        <p:spPr>
          <a:xfrm xmlns:a="http://schemas.openxmlformats.org/drawingml/2006/main">
            <a:off x="571500" y="723900"/>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46"/>
                </a:solidFill>
                <a:latin typeface="DejaVu Sans"/>
                <a:ea typeface="DejaVu Sans"/>
                <a:cs typeface="DejaVu Sans"/>
              </a:defRPr>
            </a:pPr>
            <a:r>
              <a:rPr sz="3225" b="1">
                <a:solidFill>
                  <a:srgbClr val="172D46"/>
                </a:solidFill>
                <a:latin typeface="DejaVu Sans"/>
                <a:ea typeface="DejaVu Sans"/>
                <a:cs typeface="DejaVu Sans"/>
              </a:rPr>
              <a:t>Your turn • 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dfde9f9852c4ca4"/>
          <a:stretch xmlns:a="http://schemas.openxmlformats.org/drawingml/2006/main"/>
        </p:blipFill>
        <p:spPr>
          <a:xfrm xmlns:a="http://schemas.openxmlformats.org/drawingml/2006/main">
            <a:off x="571500" y="6043613"/>
            <a:ext cx="590550" cy="5905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66806EE-B582-4C1A-93FE-8B6ED660861C}"/>
              </a:ext>
            </a:extLst>
          </p:cNvPr>
          <p:cNvSpPr>
            <a:spLocks xmlns:a="http://schemas.openxmlformats.org/drawingml/2006/main" noGrp="1"/>
          </p:cNvSpPr>
          <p:nvPr/>
        </p:nvSpPr>
        <p:spPr>
          <a:xfrm xmlns:a="http://schemas.openxmlformats.org/drawingml/2006/main">
            <a:off x="1304925" y="62674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4"/>
                </a:solidFill>
                <a:latin typeface="DejaVu Sans"/>
                <a:ea typeface="DejaVu Sans"/>
                <a:cs typeface="DejaVu Sans"/>
              </a:defRPr>
            </a:pPr>
            <a:r>
              <a:rPr sz="1200" b="0">
                <a:solidFill>
                  <a:srgbClr val="536574"/>
                </a:solidFill>
                <a:latin typeface="DejaVu Sans"/>
                <a:ea typeface="DejaVu Sans"/>
                <a:cs typeface="DejaVu Sans"/>
              </a:rPr>
              <a:t>© 2026 Saint Pierre Learning Resources</a:t>
            </a:r>
          </a:p>
        </p:txBody>
      </p:sp>
      <p:sp>
        <p:nvSpPr>
          <p:cNvPr id="5" name="">
            <a:extLst xmlns:a="http://schemas.openxmlformats.org/drawingml/2006/main">
              <a:ext uri="{FF2B5EF4-FFF2-40B4-BE49-F238E27FC236}">
                <a16:creationId xmlns:a16="http://schemas.microsoft.com/office/drawing/2014/main" id="{936FBA45-D869-4052-8E76-CB0A208639DE}"/>
              </a:ext>
            </a:extLst>
          </p:cNvPr>
          <p:cNvSpPr>
            <a:spLocks xmlns:a="http://schemas.openxmlformats.org/drawingml/2006/main" noGrp="1"/>
          </p:cNvSpPr>
          <p:nvPr/>
        </p:nvSpPr>
        <p:spPr>
          <a:xfrm xmlns:a="http://schemas.openxmlformats.org/drawingml/2006/main">
            <a:off x="11239500" y="62579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4"/>
                </a:solidFill>
                <a:latin typeface="DejaVu Sans"/>
                <a:ea typeface="DejaVu Sans"/>
                <a:cs typeface="DejaVu Sans"/>
              </a:defRPr>
            </a:pPr>
            <a:r>
              <a:rPr sz="1200" b="0">
                <a:solidFill>
                  <a:srgbClr val="536574"/>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47ED347B-2BD6-492E-97EA-F0C2F1DCD428}"/>
              </a:ext>
            </a:extLst>
          </p:cNvPr>
          <p:cNvSpPr>
            <a:spLocks xmlns:a="http://schemas.openxmlformats.org/drawingml/2006/main" noGrp="1"/>
          </p:cNvSpPr>
          <p:nvPr/>
        </p:nvSpPr>
        <p:spPr>
          <a:xfrm xmlns:a="http://schemas.openxmlformats.org/drawingml/2006/main">
            <a:off x="619125" y="2162175"/>
            <a:ext cx="10810875"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2D46"/>
                </a:solidFill>
                <a:latin typeface="DejaVu Sans"/>
                <a:ea typeface="DejaVu Sans"/>
                <a:cs typeface="DejaVu Sans"/>
              </a:defRPr>
            </a:pPr>
            <a:r>
              <a:rPr sz="2475" b="0">
                <a:solidFill>
                  <a:srgbClr val="172D46"/>
                </a:solidFill>
                <a:latin typeface="DejaVu Sans"/>
                <a:ea typeface="DejaVu Sans"/>
                <a:cs typeface="DejaVu Sans"/>
              </a:rPr>
              <a:t>Set A: 6, 8, 10, 12, 14. Set B: 6, 8, 10, 12, 24. Find the mean, median, and range of both sets. Explain what changed.</a:t>
            </a:r>
          </a:p>
        </p:txBody>
      </p:sp>
      <p:sp>
        <p:nvSpPr>
          <p:cNvPr id="7" name="">
            <a:extLst xmlns:a="http://schemas.openxmlformats.org/drawingml/2006/main">
              <a:ext uri="{FF2B5EF4-FFF2-40B4-BE49-F238E27FC236}">
                <a16:creationId xmlns:a16="http://schemas.microsoft.com/office/drawing/2014/main" id="{7C0C7985-58A9-492C-8096-3F8EFAFF68B0}"/>
              </a:ext>
            </a:extLst>
          </p:cNvPr>
          <p:cNvSpPr>
            <a:spLocks xmlns:a="http://schemas.openxmlformats.org/drawingml/2006/main" noGrp="1"/>
          </p:cNvSpPr>
          <p:nvPr/>
        </p:nvSpPr>
        <p:spPr>
          <a:xfrm xmlns:a="http://schemas.openxmlformats.org/drawingml/2006/main">
            <a:off x="619125" y="5172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46A70"/>
                </a:solidFill>
                <a:latin typeface="DejaVu Sans"/>
                <a:ea typeface="DejaVu Sans"/>
                <a:cs typeface="DejaVu Sans"/>
              </a:defRPr>
            </a:pPr>
            <a:r>
              <a:rPr sz="2025" b="1">
                <a:solidFill>
                  <a:srgbClr val="246A70"/>
                </a:solidFill>
                <a:latin typeface="DejaVu Sans"/>
                <a:ea typeface="DejaVu Sans"/>
                <a:cs typeface="DejaVu Sans"/>
              </a:rPr>
              <a:t>Represent → solve → explain → check</a:t>
            </a:r>
          </a:p>
        </p:txBody>
      </p:sp>
    </p:spTree>
    <p:extLst>
      <p:ext uri="{BB962C8B-B14F-4D97-AF65-F5344CB8AC3E}">
        <p14:creationId xmlns:p14="http://schemas.microsoft.com/office/powerpoint/2010/main" val="130979628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AC94D49-6486-400A-B508-E11ED735C60A}"/>
              </a:ext>
            </a:extLst>
          </p:cNvPr>
          <p:cNvSpPr>
            <a:spLocks xmlns:a="http://schemas.openxmlformats.org/drawingml/2006/main" noGrp="1"/>
          </p:cNvSpPr>
          <p:nvPr/>
        </p:nvSpPr>
        <p:spPr>
          <a:xfrm xmlns:a="http://schemas.openxmlformats.org/drawingml/2006/main">
            <a:off x="571500" y="2476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46A70"/>
                </a:solidFill>
                <a:latin typeface="DejaVu Sans"/>
                <a:ea typeface="DejaVu Sans"/>
                <a:cs typeface="DejaVu Sans"/>
              </a:defRPr>
            </a:pPr>
            <a:r>
              <a:rPr sz="1350" b="1">
                <a:solidFill>
                  <a:srgbClr val="246A70"/>
                </a:solidFill>
                <a:latin typeface="DejaVu Sans"/>
                <a:ea typeface="DejaVu Sans"/>
                <a:cs typeface="DejaVu Sans"/>
              </a:rPr>
              <a:t>LEARN • EXPLAIN • CHECK</a:t>
            </a:r>
          </a:p>
        </p:txBody>
      </p:sp>
      <p:sp>
        <p:nvSpPr>
          <p:cNvPr id="2" name="">
            <a:extLst xmlns:a="http://schemas.openxmlformats.org/drawingml/2006/main">
              <a:ext uri="{FF2B5EF4-FFF2-40B4-BE49-F238E27FC236}">
                <a16:creationId xmlns:a16="http://schemas.microsoft.com/office/drawing/2014/main" id="{B27AEE32-EE8B-432A-B66E-F80793EB017C}"/>
              </a:ext>
            </a:extLst>
          </p:cNvPr>
          <p:cNvSpPr>
            <a:spLocks xmlns:a="http://schemas.openxmlformats.org/drawingml/2006/main" noGrp="1"/>
          </p:cNvSpPr>
          <p:nvPr/>
        </p:nvSpPr>
        <p:spPr>
          <a:xfrm xmlns:a="http://schemas.openxmlformats.org/drawingml/2006/main">
            <a:off x="571500" y="723900"/>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46"/>
                </a:solidFill>
                <a:latin typeface="DejaVu Sans"/>
                <a:ea typeface="DejaVu Sans"/>
                <a:cs typeface="DejaVu Sans"/>
              </a:defRPr>
            </a:pPr>
            <a:r>
              <a:rPr sz="3225" b="1">
                <a:solidFill>
                  <a:srgbClr val="172D46"/>
                </a:solidFill>
                <a:latin typeface="DejaVu Sans"/>
                <a:ea typeface="DejaVu Sans"/>
                <a:cs typeface="DejaVu Sans"/>
              </a:rPr>
              <a:t>Your turn • 3</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446e1850efe40b1"/>
          <a:stretch xmlns:a="http://schemas.openxmlformats.org/drawingml/2006/main"/>
        </p:blipFill>
        <p:spPr>
          <a:xfrm xmlns:a="http://schemas.openxmlformats.org/drawingml/2006/main">
            <a:off x="571500" y="6043613"/>
            <a:ext cx="590550" cy="5905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64E967B-8378-4713-8945-D1DC7128E92D}"/>
              </a:ext>
            </a:extLst>
          </p:cNvPr>
          <p:cNvSpPr>
            <a:spLocks xmlns:a="http://schemas.openxmlformats.org/drawingml/2006/main" noGrp="1"/>
          </p:cNvSpPr>
          <p:nvPr/>
        </p:nvSpPr>
        <p:spPr>
          <a:xfrm xmlns:a="http://schemas.openxmlformats.org/drawingml/2006/main">
            <a:off x="1304925" y="62674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4"/>
                </a:solidFill>
                <a:latin typeface="DejaVu Sans"/>
                <a:ea typeface="DejaVu Sans"/>
                <a:cs typeface="DejaVu Sans"/>
              </a:defRPr>
            </a:pPr>
            <a:r>
              <a:rPr sz="1200" b="0">
                <a:solidFill>
                  <a:srgbClr val="536574"/>
                </a:solidFill>
                <a:latin typeface="DejaVu Sans"/>
                <a:ea typeface="DejaVu Sans"/>
                <a:cs typeface="DejaVu Sans"/>
              </a:rPr>
              <a:t>© 2026 Saint Pierre Learning Resources</a:t>
            </a:r>
          </a:p>
        </p:txBody>
      </p:sp>
      <p:sp>
        <p:nvSpPr>
          <p:cNvPr id="5" name="">
            <a:extLst xmlns:a="http://schemas.openxmlformats.org/drawingml/2006/main">
              <a:ext uri="{FF2B5EF4-FFF2-40B4-BE49-F238E27FC236}">
                <a16:creationId xmlns:a16="http://schemas.microsoft.com/office/drawing/2014/main" id="{77BA6391-92DD-4540-9D2B-C0C9468DFCEC}"/>
              </a:ext>
            </a:extLst>
          </p:cNvPr>
          <p:cNvSpPr>
            <a:spLocks xmlns:a="http://schemas.openxmlformats.org/drawingml/2006/main" noGrp="1"/>
          </p:cNvSpPr>
          <p:nvPr/>
        </p:nvSpPr>
        <p:spPr>
          <a:xfrm xmlns:a="http://schemas.openxmlformats.org/drawingml/2006/main">
            <a:off x="11239500" y="62579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4"/>
                </a:solidFill>
                <a:latin typeface="DejaVu Sans"/>
                <a:ea typeface="DejaVu Sans"/>
                <a:cs typeface="DejaVu Sans"/>
              </a:defRPr>
            </a:pPr>
            <a:r>
              <a:rPr sz="1200" b="0">
                <a:solidFill>
                  <a:srgbClr val="536574"/>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DBA657DE-E91B-4067-9EFD-01E437E385F5}"/>
              </a:ext>
            </a:extLst>
          </p:cNvPr>
          <p:cNvSpPr>
            <a:spLocks xmlns:a="http://schemas.openxmlformats.org/drawingml/2006/main" noGrp="1"/>
          </p:cNvSpPr>
          <p:nvPr/>
        </p:nvSpPr>
        <p:spPr>
          <a:xfrm xmlns:a="http://schemas.openxmlformats.org/drawingml/2006/main">
            <a:off x="619125" y="2162175"/>
            <a:ext cx="10810875"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2D46"/>
                </a:solidFill>
                <a:latin typeface="DejaVu Sans"/>
                <a:ea typeface="DejaVu Sans"/>
                <a:cs typeface="DejaVu Sans"/>
              </a:defRPr>
            </a:pPr>
            <a:r>
              <a:rPr sz="2475" b="0">
                <a:solidFill>
                  <a:srgbClr val="172D46"/>
                </a:solidFill>
                <a:latin typeface="DejaVu Sans"/>
                <a:ea typeface="DejaVu Sans"/>
                <a:cs typeface="DejaVu Sans"/>
              </a:rPr>
              <a:t>Set A: 4, 6, 8, 10, 12. Set B: 4, 6, 8, 10, 22. Find the mean, median, and range of both sets. Explain what changed.</a:t>
            </a:r>
          </a:p>
        </p:txBody>
      </p:sp>
      <p:sp>
        <p:nvSpPr>
          <p:cNvPr id="7" name="">
            <a:extLst xmlns:a="http://schemas.openxmlformats.org/drawingml/2006/main">
              <a:ext uri="{FF2B5EF4-FFF2-40B4-BE49-F238E27FC236}">
                <a16:creationId xmlns:a16="http://schemas.microsoft.com/office/drawing/2014/main" id="{8A6525F0-C8F5-4A52-8C6C-0ABB175EF462}"/>
              </a:ext>
            </a:extLst>
          </p:cNvPr>
          <p:cNvSpPr>
            <a:spLocks xmlns:a="http://schemas.openxmlformats.org/drawingml/2006/main" noGrp="1"/>
          </p:cNvSpPr>
          <p:nvPr/>
        </p:nvSpPr>
        <p:spPr>
          <a:xfrm xmlns:a="http://schemas.openxmlformats.org/drawingml/2006/main">
            <a:off x="619125" y="5172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46A70"/>
                </a:solidFill>
                <a:latin typeface="DejaVu Sans"/>
                <a:ea typeface="DejaVu Sans"/>
                <a:cs typeface="DejaVu Sans"/>
              </a:defRPr>
            </a:pPr>
            <a:r>
              <a:rPr sz="2025" b="1">
                <a:solidFill>
                  <a:srgbClr val="246A70"/>
                </a:solidFill>
                <a:latin typeface="DejaVu Sans"/>
                <a:ea typeface="DejaVu Sans"/>
                <a:cs typeface="DejaVu Sans"/>
              </a:rPr>
              <a:t>Represent → solve → explain → check</a:t>
            </a:r>
          </a:p>
        </p:txBody>
      </p:sp>
    </p:spTree>
    <p:extLst>
      <p:ext uri="{BB962C8B-B14F-4D97-AF65-F5344CB8AC3E}">
        <p14:creationId xmlns:p14="http://schemas.microsoft.com/office/powerpoint/2010/main" val="140099759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23ACE54-AF42-4645-ADB1-C4A6F999430F}"/>
              </a:ext>
            </a:extLst>
          </p:cNvPr>
          <p:cNvSpPr>
            <a:spLocks xmlns:a="http://schemas.openxmlformats.org/drawingml/2006/main" noGrp="1"/>
          </p:cNvSpPr>
          <p:nvPr/>
        </p:nvSpPr>
        <p:spPr>
          <a:xfrm xmlns:a="http://schemas.openxmlformats.org/drawingml/2006/main">
            <a:off x="571500" y="2476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46A70"/>
                </a:solidFill>
                <a:latin typeface="DejaVu Sans"/>
                <a:ea typeface="DejaVu Sans"/>
                <a:cs typeface="DejaVu Sans"/>
              </a:defRPr>
            </a:pPr>
            <a:r>
              <a:rPr sz="1350" b="1">
                <a:solidFill>
                  <a:srgbClr val="246A70"/>
                </a:solidFill>
                <a:latin typeface="DejaVu Sans"/>
                <a:ea typeface="DejaVu Sans"/>
                <a:cs typeface="DejaVu Sans"/>
              </a:rPr>
              <a:t>LEARN • EXPLAIN • CHECK</a:t>
            </a:r>
          </a:p>
        </p:txBody>
      </p:sp>
      <p:sp>
        <p:nvSpPr>
          <p:cNvPr id="2" name="">
            <a:extLst xmlns:a="http://schemas.openxmlformats.org/drawingml/2006/main">
              <a:ext uri="{FF2B5EF4-FFF2-40B4-BE49-F238E27FC236}">
                <a16:creationId xmlns:a16="http://schemas.microsoft.com/office/drawing/2014/main" id="{9CEC7866-B57F-4AC6-94C6-2FB5DB1AB6B9}"/>
              </a:ext>
            </a:extLst>
          </p:cNvPr>
          <p:cNvSpPr>
            <a:spLocks xmlns:a="http://schemas.openxmlformats.org/drawingml/2006/main" noGrp="1"/>
          </p:cNvSpPr>
          <p:nvPr/>
        </p:nvSpPr>
        <p:spPr>
          <a:xfrm xmlns:a="http://schemas.openxmlformats.org/drawingml/2006/main">
            <a:off x="571500" y="723900"/>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46"/>
                </a:solidFill>
                <a:latin typeface="DejaVu Sans"/>
                <a:ea typeface="DejaVu Sans"/>
                <a:cs typeface="DejaVu Sans"/>
              </a:defRPr>
            </a:pPr>
            <a:r>
              <a:rPr sz="3225" b="1">
                <a:solidFill>
                  <a:srgbClr val="172D46"/>
                </a:solidFill>
                <a:latin typeface="DejaVu Sans"/>
                <a:ea typeface="DejaVu Sans"/>
                <a:cs typeface="DejaVu Sans"/>
              </a:rPr>
              <a:t>Your turn • 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0fab89461224259"/>
          <a:stretch xmlns:a="http://schemas.openxmlformats.org/drawingml/2006/main"/>
        </p:blipFill>
        <p:spPr>
          <a:xfrm xmlns:a="http://schemas.openxmlformats.org/drawingml/2006/main">
            <a:off x="571500" y="6043613"/>
            <a:ext cx="590550" cy="5905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DAEC9FD-D08E-41FA-9DB0-B2218DBA21CB}"/>
              </a:ext>
            </a:extLst>
          </p:cNvPr>
          <p:cNvSpPr>
            <a:spLocks xmlns:a="http://schemas.openxmlformats.org/drawingml/2006/main" noGrp="1"/>
          </p:cNvSpPr>
          <p:nvPr/>
        </p:nvSpPr>
        <p:spPr>
          <a:xfrm xmlns:a="http://schemas.openxmlformats.org/drawingml/2006/main">
            <a:off x="1304925" y="62674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4"/>
                </a:solidFill>
                <a:latin typeface="DejaVu Sans"/>
                <a:ea typeface="DejaVu Sans"/>
                <a:cs typeface="DejaVu Sans"/>
              </a:defRPr>
            </a:pPr>
            <a:r>
              <a:rPr sz="1200" b="0">
                <a:solidFill>
                  <a:srgbClr val="536574"/>
                </a:solidFill>
                <a:latin typeface="DejaVu Sans"/>
                <a:ea typeface="DejaVu Sans"/>
                <a:cs typeface="DejaVu Sans"/>
              </a:rPr>
              <a:t>© 2026 Saint Pierre Learning Resources</a:t>
            </a:r>
          </a:p>
        </p:txBody>
      </p:sp>
      <p:sp>
        <p:nvSpPr>
          <p:cNvPr id="5" name="">
            <a:extLst xmlns:a="http://schemas.openxmlformats.org/drawingml/2006/main">
              <a:ext uri="{FF2B5EF4-FFF2-40B4-BE49-F238E27FC236}">
                <a16:creationId xmlns:a16="http://schemas.microsoft.com/office/drawing/2014/main" id="{E39825EF-410A-49F0-8EA5-7A5794FFCF00}"/>
              </a:ext>
            </a:extLst>
          </p:cNvPr>
          <p:cNvSpPr>
            <a:spLocks xmlns:a="http://schemas.openxmlformats.org/drawingml/2006/main" noGrp="1"/>
          </p:cNvSpPr>
          <p:nvPr/>
        </p:nvSpPr>
        <p:spPr>
          <a:xfrm xmlns:a="http://schemas.openxmlformats.org/drawingml/2006/main">
            <a:off x="11239500" y="62579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4"/>
                </a:solidFill>
                <a:latin typeface="DejaVu Sans"/>
                <a:ea typeface="DejaVu Sans"/>
                <a:cs typeface="DejaVu Sans"/>
              </a:defRPr>
            </a:pPr>
            <a:r>
              <a:rPr sz="1200" b="0">
                <a:solidFill>
                  <a:srgbClr val="536574"/>
                </a:solidFill>
                <a:latin typeface="DejaVu Sans"/>
                <a:ea typeface="DejaVu Sans"/>
                <a:cs typeface="DejaVu Sans"/>
              </a:rPr>
              <a:t>8</a:t>
            </a:r>
          </a:p>
        </p:txBody>
      </p:sp>
      <p:sp>
        <p:nvSpPr>
          <p:cNvPr id="6" name="">
            <a:extLst xmlns:a="http://schemas.openxmlformats.org/drawingml/2006/main">
              <a:ext uri="{FF2B5EF4-FFF2-40B4-BE49-F238E27FC236}">
                <a16:creationId xmlns:a16="http://schemas.microsoft.com/office/drawing/2014/main" id="{25F6B073-85BC-4935-A4B8-CC52B3120A0E}"/>
              </a:ext>
            </a:extLst>
          </p:cNvPr>
          <p:cNvSpPr>
            <a:spLocks xmlns:a="http://schemas.openxmlformats.org/drawingml/2006/main" noGrp="1"/>
          </p:cNvSpPr>
          <p:nvPr/>
        </p:nvSpPr>
        <p:spPr>
          <a:xfrm xmlns:a="http://schemas.openxmlformats.org/drawingml/2006/main">
            <a:off x="619125" y="2162175"/>
            <a:ext cx="10810875"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2D46"/>
                </a:solidFill>
                <a:latin typeface="DejaVu Sans"/>
                <a:ea typeface="DejaVu Sans"/>
                <a:cs typeface="DejaVu Sans"/>
              </a:defRPr>
            </a:pPr>
            <a:r>
              <a:rPr sz="2475" b="0">
                <a:solidFill>
                  <a:srgbClr val="172D46"/>
                </a:solidFill>
                <a:latin typeface="DejaVu Sans"/>
                <a:ea typeface="DejaVu Sans"/>
                <a:cs typeface="DejaVu Sans"/>
              </a:rPr>
              <a:t>Set A: 4, 6, 8, 10, 12. Set B: 4, 6, 8, 10, 22. Find the mean, median, and range of both sets. Explain what changed.</a:t>
            </a:r>
          </a:p>
        </p:txBody>
      </p:sp>
      <p:sp>
        <p:nvSpPr>
          <p:cNvPr id="7" name="">
            <a:extLst xmlns:a="http://schemas.openxmlformats.org/drawingml/2006/main">
              <a:ext uri="{FF2B5EF4-FFF2-40B4-BE49-F238E27FC236}">
                <a16:creationId xmlns:a16="http://schemas.microsoft.com/office/drawing/2014/main" id="{860E05FF-A037-4BF4-9B27-9F567AFA26B6}"/>
              </a:ext>
            </a:extLst>
          </p:cNvPr>
          <p:cNvSpPr>
            <a:spLocks xmlns:a="http://schemas.openxmlformats.org/drawingml/2006/main" noGrp="1"/>
          </p:cNvSpPr>
          <p:nvPr/>
        </p:nvSpPr>
        <p:spPr>
          <a:xfrm xmlns:a="http://schemas.openxmlformats.org/drawingml/2006/main">
            <a:off x="619125" y="5172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46A70"/>
                </a:solidFill>
                <a:latin typeface="DejaVu Sans"/>
                <a:ea typeface="DejaVu Sans"/>
                <a:cs typeface="DejaVu Sans"/>
              </a:defRPr>
            </a:pPr>
            <a:r>
              <a:rPr sz="2025" b="1">
                <a:solidFill>
                  <a:srgbClr val="246A70"/>
                </a:solidFill>
                <a:latin typeface="DejaVu Sans"/>
                <a:ea typeface="DejaVu Sans"/>
                <a:cs typeface="DejaVu Sans"/>
              </a:rPr>
              <a:t>Represent → solve → explain → check</a:t>
            </a:r>
          </a:p>
        </p:txBody>
      </p:sp>
    </p:spTree>
    <p:extLst>
      <p:ext uri="{BB962C8B-B14F-4D97-AF65-F5344CB8AC3E}">
        <p14:creationId xmlns:p14="http://schemas.microsoft.com/office/powerpoint/2010/main" val="203924115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4BBD83F-5C3B-46A9-BD12-36402F708BD7}"/>
              </a:ext>
            </a:extLst>
          </p:cNvPr>
          <p:cNvSpPr>
            <a:spLocks xmlns:a="http://schemas.openxmlformats.org/drawingml/2006/main" noGrp="1"/>
          </p:cNvSpPr>
          <p:nvPr/>
        </p:nvSpPr>
        <p:spPr>
          <a:xfrm xmlns:a="http://schemas.openxmlformats.org/drawingml/2006/main">
            <a:off x="571500" y="2476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46A70"/>
                </a:solidFill>
                <a:latin typeface="DejaVu Sans"/>
                <a:ea typeface="DejaVu Sans"/>
                <a:cs typeface="DejaVu Sans"/>
              </a:defRPr>
            </a:pPr>
            <a:r>
              <a:rPr sz="1350" b="1">
                <a:solidFill>
                  <a:srgbClr val="246A70"/>
                </a:solidFill>
                <a:latin typeface="DejaVu Sans"/>
                <a:ea typeface="DejaVu Sans"/>
                <a:cs typeface="DejaVu Sans"/>
              </a:rPr>
              <a:t>LEARN • EXPLAIN • CHECK</a:t>
            </a:r>
          </a:p>
        </p:txBody>
      </p:sp>
      <p:sp>
        <p:nvSpPr>
          <p:cNvPr id="2" name="">
            <a:extLst xmlns:a="http://schemas.openxmlformats.org/drawingml/2006/main">
              <a:ext uri="{FF2B5EF4-FFF2-40B4-BE49-F238E27FC236}">
                <a16:creationId xmlns:a16="http://schemas.microsoft.com/office/drawing/2014/main" id="{C503BABB-8CE6-4349-BB8D-5BBF61DB5AA8}"/>
              </a:ext>
            </a:extLst>
          </p:cNvPr>
          <p:cNvSpPr>
            <a:spLocks xmlns:a="http://schemas.openxmlformats.org/drawingml/2006/main" noGrp="1"/>
          </p:cNvSpPr>
          <p:nvPr/>
        </p:nvSpPr>
        <p:spPr>
          <a:xfrm xmlns:a="http://schemas.openxmlformats.org/drawingml/2006/main">
            <a:off x="571500" y="723900"/>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46"/>
                </a:solidFill>
                <a:latin typeface="DejaVu Sans"/>
                <a:ea typeface="DejaVu Sans"/>
                <a:cs typeface="DejaVu Sans"/>
              </a:defRPr>
            </a:pPr>
            <a:r>
              <a:rPr sz="3225" b="1">
                <a:solidFill>
                  <a:srgbClr val="172D46"/>
                </a:solidFill>
                <a:latin typeface="DejaVu Sans"/>
                <a:ea typeface="DejaVu Sans"/>
                <a:cs typeface="DejaVu Sans"/>
              </a:rPr>
              <a:t>Exit question • Explain independently</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4947bd74925473a"/>
          <a:stretch xmlns:a="http://schemas.openxmlformats.org/drawingml/2006/main"/>
        </p:blipFill>
        <p:spPr>
          <a:xfrm xmlns:a="http://schemas.openxmlformats.org/drawingml/2006/main">
            <a:off x="571500" y="6043613"/>
            <a:ext cx="590550" cy="5905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9AFA0CC-1EC1-4936-9B8C-3C9BA5716ED7}"/>
              </a:ext>
            </a:extLst>
          </p:cNvPr>
          <p:cNvSpPr>
            <a:spLocks xmlns:a="http://schemas.openxmlformats.org/drawingml/2006/main" noGrp="1"/>
          </p:cNvSpPr>
          <p:nvPr/>
        </p:nvSpPr>
        <p:spPr>
          <a:xfrm xmlns:a="http://schemas.openxmlformats.org/drawingml/2006/main">
            <a:off x="1304925" y="62674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4"/>
                </a:solidFill>
                <a:latin typeface="DejaVu Sans"/>
                <a:ea typeface="DejaVu Sans"/>
                <a:cs typeface="DejaVu Sans"/>
              </a:defRPr>
            </a:pPr>
            <a:r>
              <a:rPr sz="1200" b="0">
                <a:solidFill>
                  <a:srgbClr val="536574"/>
                </a:solidFill>
                <a:latin typeface="DejaVu Sans"/>
                <a:ea typeface="DejaVu Sans"/>
                <a:cs typeface="DejaVu Sans"/>
              </a:rPr>
              <a:t>© 2026 Saint Pierre Learning Resources</a:t>
            </a:r>
          </a:p>
        </p:txBody>
      </p:sp>
      <p:sp>
        <p:nvSpPr>
          <p:cNvPr id="5" name="">
            <a:extLst xmlns:a="http://schemas.openxmlformats.org/drawingml/2006/main">
              <a:ext uri="{FF2B5EF4-FFF2-40B4-BE49-F238E27FC236}">
                <a16:creationId xmlns:a16="http://schemas.microsoft.com/office/drawing/2014/main" id="{B1090E9B-5416-4678-B842-0AD1CDFA1BA5}"/>
              </a:ext>
            </a:extLst>
          </p:cNvPr>
          <p:cNvSpPr>
            <a:spLocks xmlns:a="http://schemas.openxmlformats.org/drawingml/2006/main" noGrp="1"/>
          </p:cNvSpPr>
          <p:nvPr/>
        </p:nvSpPr>
        <p:spPr>
          <a:xfrm xmlns:a="http://schemas.openxmlformats.org/drawingml/2006/main">
            <a:off x="11239500" y="62579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4"/>
                </a:solidFill>
                <a:latin typeface="DejaVu Sans"/>
                <a:ea typeface="DejaVu Sans"/>
                <a:cs typeface="DejaVu Sans"/>
              </a:defRPr>
            </a:pPr>
            <a:r>
              <a:rPr sz="1200" b="0">
                <a:solidFill>
                  <a:srgbClr val="536574"/>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3E1480A8-906F-47AC-B880-80DB693F90B0}"/>
              </a:ext>
            </a:extLst>
          </p:cNvPr>
          <p:cNvSpPr>
            <a:spLocks xmlns:a="http://schemas.openxmlformats.org/drawingml/2006/main" noGrp="1"/>
          </p:cNvSpPr>
          <p:nvPr/>
        </p:nvSpPr>
        <p:spPr>
          <a:xfrm xmlns:a="http://schemas.openxmlformats.org/drawingml/2006/main">
            <a:off x="619125" y="2114550"/>
            <a:ext cx="108585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2D46"/>
                </a:solidFill>
                <a:latin typeface="DejaVu Sans"/>
                <a:ea typeface="DejaVu Sans"/>
                <a:cs typeface="DejaVu Sans"/>
              </a:defRPr>
            </a:pPr>
            <a:r>
              <a:rPr sz="2400" b="0">
                <a:solidFill>
                  <a:srgbClr val="172D46"/>
                </a:solidFill>
                <a:latin typeface="DejaVu Sans"/>
                <a:ea typeface="DejaVu Sans"/>
                <a:cs typeface="DejaVu Sans"/>
              </a:rPr>
              <a:t>Set A: 6, 8, 10, 12, 14. Set B: 6, 8, 10, 12, 24. Find the mean, median, and range of both sets. Explain what changed.</a:t>
            </a:r>
          </a:p>
        </p:txBody>
      </p:sp>
      <p:sp>
        <p:nvSpPr>
          <p:cNvPr id="7" name="">
            <a:extLst xmlns:a="http://schemas.openxmlformats.org/drawingml/2006/main">
              <a:ext uri="{FF2B5EF4-FFF2-40B4-BE49-F238E27FC236}">
                <a16:creationId xmlns:a16="http://schemas.microsoft.com/office/drawing/2014/main" id="{7D592BED-5017-45B8-B563-A21E90D8D13D}"/>
              </a:ext>
            </a:extLst>
          </p:cNvPr>
          <p:cNvSpPr>
            <a:spLocks xmlns:a="http://schemas.openxmlformats.org/drawingml/2006/main" noGrp="1"/>
          </p:cNvSpPr>
          <p:nvPr/>
        </p:nvSpPr>
        <p:spPr>
          <a:xfrm xmlns:a="http://schemas.openxmlformats.org/drawingml/2006/main">
            <a:off x="619125" y="5210175"/>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6A70"/>
                </a:solidFill>
                <a:latin typeface="DejaVu Sans"/>
                <a:ea typeface="DejaVu Sans"/>
                <a:cs typeface="DejaVu Sans"/>
              </a:defRPr>
            </a:pPr>
            <a:r>
              <a:rPr sz="1950" b="1">
                <a:solidFill>
                  <a:srgbClr val="246A70"/>
                </a:solidFill>
                <a:latin typeface="DejaVu Sans"/>
                <a:ea typeface="DejaVu Sans"/>
                <a:cs typeface="DejaVu Sans"/>
              </a:rPr>
              <a:t>Include a check. What would you teach someone else?</a:t>
            </a:r>
          </a:p>
        </p:txBody>
      </p:sp>
    </p:spTree>
    <p:extLst>
      <p:ext uri="{BB962C8B-B14F-4D97-AF65-F5344CB8AC3E}">
        <p14:creationId xmlns:p14="http://schemas.microsoft.com/office/powerpoint/2010/main" val="87967750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933FBB-B21A-475A-B2D6-6504A7E9D2FA}"/>
              </a:ext>
            </a:extLst>
          </p:cNvPr>
          <p:cNvSpPr>
            <a:spLocks xmlns:a="http://schemas.openxmlformats.org/drawingml/2006/main" noGrp="1"/>
          </p:cNvSpPr>
          <p:nvPr/>
        </p:nvSpPr>
        <p:spPr>
          <a:xfrm xmlns:a="http://schemas.openxmlformats.org/drawingml/2006/main">
            <a:off x="571500" y="2476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46A70"/>
                </a:solidFill>
                <a:latin typeface="DejaVu Sans"/>
                <a:ea typeface="DejaVu Sans"/>
                <a:cs typeface="DejaVu Sans"/>
              </a:defRPr>
            </a:pPr>
            <a:r>
              <a:rPr sz="1350" b="1">
                <a:solidFill>
                  <a:srgbClr val="246A70"/>
                </a:solidFill>
                <a:latin typeface="DejaVu Sans"/>
                <a:ea typeface="DejaVu Sans"/>
                <a:cs typeface="DejaVu Sans"/>
              </a:rPr>
              <a:t>TEACHER KEY • HIDE DURING INDEPENDENT WORK</a:t>
            </a:r>
          </a:p>
        </p:txBody>
      </p:sp>
      <p:sp>
        <p:nvSpPr>
          <p:cNvPr id="2" name="">
            <a:extLst xmlns:a="http://schemas.openxmlformats.org/drawingml/2006/main">
              <a:ext uri="{FF2B5EF4-FFF2-40B4-BE49-F238E27FC236}">
                <a16:creationId xmlns:a16="http://schemas.microsoft.com/office/drawing/2014/main" id="{7FB099A5-29B2-44C6-8FDD-8C406DDDA5B8}"/>
              </a:ext>
            </a:extLst>
          </p:cNvPr>
          <p:cNvSpPr>
            <a:spLocks xmlns:a="http://schemas.openxmlformats.org/drawingml/2006/main" noGrp="1"/>
          </p:cNvSpPr>
          <p:nvPr/>
        </p:nvSpPr>
        <p:spPr>
          <a:xfrm xmlns:a="http://schemas.openxmlformats.org/drawingml/2006/main">
            <a:off x="571500" y="723900"/>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46"/>
                </a:solidFill>
                <a:latin typeface="DejaVu Sans"/>
                <a:ea typeface="DejaVu Sans"/>
                <a:cs typeface="DejaVu Sans"/>
              </a:defRPr>
            </a:pPr>
            <a:r>
              <a:rPr sz="3225" b="1">
                <a:solidFill>
                  <a:srgbClr val="172D46"/>
                </a:solidFill>
                <a:latin typeface="DejaVu Sans"/>
                <a:ea typeface="DejaVu Sans"/>
                <a:cs typeface="DejaVu Sans"/>
              </a:rPr>
              <a:t>Teacher review and next steps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4c950d94ea849d7"/>
          <a:stretch xmlns:a="http://schemas.openxmlformats.org/drawingml/2006/main"/>
        </p:blipFill>
        <p:spPr>
          <a:xfrm xmlns:a="http://schemas.openxmlformats.org/drawingml/2006/main">
            <a:off x="571500" y="6043613"/>
            <a:ext cx="590550" cy="5905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7157C38-3926-4322-AB77-4942ED1AC24C}"/>
              </a:ext>
            </a:extLst>
          </p:cNvPr>
          <p:cNvSpPr>
            <a:spLocks xmlns:a="http://schemas.openxmlformats.org/drawingml/2006/main" noGrp="1"/>
          </p:cNvSpPr>
          <p:nvPr/>
        </p:nvSpPr>
        <p:spPr>
          <a:xfrm xmlns:a="http://schemas.openxmlformats.org/drawingml/2006/main">
            <a:off x="1304925" y="62674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4"/>
                </a:solidFill>
                <a:latin typeface="DejaVu Sans"/>
                <a:ea typeface="DejaVu Sans"/>
                <a:cs typeface="DejaVu Sans"/>
              </a:defRPr>
            </a:pPr>
            <a:r>
              <a:rPr sz="1200" b="0">
                <a:solidFill>
                  <a:srgbClr val="536574"/>
                </a:solidFill>
                <a:latin typeface="DejaVu Sans"/>
                <a:ea typeface="DejaVu Sans"/>
                <a:cs typeface="DejaVu Sans"/>
              </a:rPr>
              <a:t>© 2026 Saint Pierre Learning Resources</a:t>
            </a:r>
          </a:p>
        </p:txBody>
      </p:sp>
      <p:sp>
        <p:nvSpPr>
          <p:cNvPr id="5" name="">
            <a:extLst xmlns:a="http://schemas.openxmlformats.org/drawingml/2006/main">
              <a:ext uri="{FF2B5EF4-FFF2-40B4-BE49-F238E27FC236}">
                <a16:creationId xmlns:a16="http://schemas.microsoft.com/office/drawing/2014/main" id="{A225E6A7-7FBE-463C-92C2-BB38D7385212}"/>
              </a:ext>
            </a:extLst>
          </p:cNvPr>
          <p:cNvSpPr>
            <a:spLocks xmlns:a="http://schemas.openxmlformats.org/drawingml/2006/main" noGrp="1"/>
          </p:cNvSpPr>
          <p:nvPr/>
        </p:nvSpPr>
        <p:spPr>
          <a:xfrm xmlns:a="http://schemas.openxmlformats.org/drawingml/2006/main">
            <a:off x="11239500" y="62579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4"/>
                </a:solidFill>
                <a:latin typeface="DejaVu Sans"/>
                <a:ea typeface="DejaVu Sans"/>
                <a:cs typeface="DejaVu Sans"/>
              </a:defRPr>
            </a:pPr>
            <a:r>
              <a:rPr sz="1200" b="0">
                <a:solidFill>
                  <a:srgbClr val="536574"/>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A7B5982B-FFF3-477E-8A3C-B5BFCCFB2C59}"/>
              </a:ext>
            </a:extLst>
          </p:cNvPr>
          <p:cNvSpPr>
            <a:spLocks xmlns:a="http://schemas.openxmlformats.org/drawingml/2006/main" noGrp="1"/>
          </p:cNvSpPr>
          <p:nvPr/>
        </p:nvSpPr>
        <p:spPr>
          <a:xfrm xmlns:a="http://schemas.openxmlformats.org/drawingml/2006/main">
            <a:off x="619125" y="2066925"/>
            <a:ext cx="51435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2D46"/>
                </a:solidFill>
                <a:latin typeface="DejaVu Sans"/>
                <a:ea typeface="DejaVu Sans"/>
                <a:cs typeface="DejaVu Sans"/>
              </a:defRPr>
            </a:pPr>
            <a:r>
              <a:rPr sz="2025" b="1">
                <a:solidFill>
                  <a:srgbClr val="172D46"/>
                </a:solidFill>
                <a:latin typeface="DejaVu Sans"/>
                <a:ea typeface="DejaVu Sans"/>
                <a:cs typeface="DejaVu Sans"/>
              </a:rPr>
              <a:t>1. A: 6, 6, 8. B: 8, 6, 18.</a:t>
            </a:r>
          </a:p>
          <a:p xmlns:a="http://schemas.openxmlformats.org/drawingml/2006/main">
            <a:r>
              <a:t/>
            </a:r>
          </a:p>
          <a:p xmlns:a="http://schemas.openxmlformats.org/drawingml/2006/main">
            <a:pPr>
              <a:defRPr sz="2025" b="1">
                <a:solidFill>
                  <a:srgbClr val="172D46"/>
                </a:solidFill>
                <a:latin typeface="DejaVu Sans"/>
                <a:ea typeface="DejaVu Sans"/>
                <a:cs typeface="DejaVu Sans"/>
              </a:defRPr>
            </a:pPr>
            <a:r>
              <a:rPr sz="2025" b="1">
                <a:solidFill>
                  <a:srgbClr val="172D46"/>
                </a:solidFill>
                <a:latin typeface="DejaVu Sans"/>
                <a:ea typeface="DejaVu Sans"/>
                <a:cs typeface="DejaVu Sans"/>
              </a:rPr>
              <a:t>2. A: 10, 10, 8. B: 12, 10, 18.</a:t>
            </a:r>
          </a:p>
          <a:p xmlns:a="http://schemas.openxmlformats.org/drawingml/2006/main">
            <a:r>
              <a:t/>
            </a:r>
          </a:p>
          <a:p xmlns:a="http://schemas.openxmlformats.org/drawingml/2006/main">
            <a:pPr>
              <a:defRPr sz="2025" b="1">
                <a:solidFill>
                  <a:srgbClr val="172D46"/>
                </a:solidFill>
                <a:latin typeface="DejaVu Sans"/>
                <a:ea typeface="DejaVu Sans"/>
                <a:cs typeface="DejaVu Sans"/>
              </a:defRPr>
            </a:pPr>
            <a:r>
              <a:rPr sz="2025" b="1">
                <a:solidFill>
                  <a:srgbClr val="172D46"/>
                </a:solidFill>
                <a:latin typeface="DejaVu Sans"/>
                <a:ea typeface="DejaVu Sans"/>
                <a:cs typeface="DejaVu Sans"/>
              </a:rPr>
              <a:t>3. A: 8, 8, 8. B: 10, 8, 18.</a:t>
            </a:r>
          </a:p>
          <a:p xmlns:a="http://schemas.openxmlformats.org/drawingml/2006/main">
            <a:r>
              <a:t/>
            </a:r>
          </a:p>
          <a:p xmlns:a="http://schemas.openxmlformats.org/drawingml/2006/main">
            <a:pPr>
              <a:defRPr sz="2025" b="1">
                <a:solidFill>
                  <a:srgbClr val="172D46"/>
                </a:solidFill>
                <a:latin typeface="DejaVu Sans"/>
                <a:ea typeface="DejaVu Sans"/>
                <a:cs typeface="DejaVu Sans"/>
              </a:defRPr>
            </a:pPr>
            <a:r>
              <a:rPr sz="2025" b="1">
                <a:solidFill>
                  <a:srgbClr val="172D46"/>
                </a:solidFill>
                <a:latin typeface="DejaVu Sans"/>
                <a:ea typeface="DejaVu Sans"/>
                <a:cs typeface="DejaVu Sans"/>
              </a:rPr>
              <a:t>4. A: 8, 8, 8. B: 10, 8, 18.</a:t>
            </a:r>
          </a:p>
        </p:txBody>
      </p:sp>
      <p:sp>
        <p:nvSpPr>
          <p:cNvPr id="7" name="">
            <a:extLst xmlns:a="http://schemas.openxmlformats.org/drawingml/2006/main">
              <a:ext uri="{FF2B5EF4-FFF2-40B4-BE49-F238E27FC236}">
                <a16:creationId xmlns:a16="http://schemas.microsoft.com/office/drawing/2014/main" id="{3ED29CD9-CD6A-4A2B-B36A-B112140FF9C7}"/>
              </a:ext>
            </a:extLst>
          </p:cNvPr>
          <p:cNvSpPr>
            <a:spLocks xmlns:a="http://schemas.openxmlformats.org/drawingml/2006/main" noGrp="1"/>
          </p:cNvSpPr>
          <p:nvPr/>
        </p:nvSpPr>
        <p:spPr>
          <a:xfrm xmlns:a="http://schemas.openxmlformats.org/drawingml/2006/main">
            <a:off x="6315075" y="2066925"/>
            <a:ext cx="5143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D46"/>
                </a:solidFill>
                <a:latin typeface="DejaVu Sans"/>
                <a:ea typeface="DejaVu Sans"/>
                <a:cs typeface="DejaVu Sans"/>
              </a:defRPr>
            </a:pPr>
            <a:r>
              <a:rPr sz="2025" b="0">
                <a:solidFill>
                  <a:srgbClr val="172D46"/>
                </a:solidFill>
                <a:latin typeface="DejaVu Sans"/>
                <a:ea typeface="DejaVu Sans"/>
                <a:cs typeface="DejaVu Sans"/>
              </a:rPr>
              <a:t>Exit: A: 10, 10, 8. B: 12, 10, 18.</a:t>
            </a:r>
          </a:p>
          <a:p xmlns:a="http://schemas.openxmlformats.org/drawingml/2006/main">
            <a:r>
              <a:t/>
            </a:r>
          </a:p>
          <a:p xmlns:a="http://schemas.openxmlformats.org/drawingml/2006/main">
            <a:pPr>
              <a:defRPr sz="2025" b="0">
                <a:solidFill>
                  <a:srgbClr val="172D46"/>
                </a:solidFill>
                <a:latin typeface="DejaVu Sans"/>
                <a:ea typeface="DejaVu Sans"/>
                <a:cs typeface="DejaVu Sans"/>
              </a:defRPr>
            </a:pPr>
            <a:r>
              <a:rPr sz="2025" b="0">
                <a:solidFill>
                  <a:srgbClr val="172D46"/>
                </a:solidFill>
                <a:latin typeface="DejaVu Sans"/>
                <a:ea typeface="DejaVu Sans"/>
                <a:cs typeface="DejaVu Sans"/>
              </a:rPr>
              <a:t>Use the worked PDF key and slide notes to discuss methods. Revisit the earliest unclear step before adding more practice.</a:t>
            </a:r>
          </a:p>
        </p:txBody>
      </p:sp>
    </p:spTree>
    <p:extLst>
      <p:ext uri="{BB962C8B-B14F-4D97-AF65-F5344CB8AC3E}">
        <p14:creationId xmlns:p14="http://schemas.microsoft.com/office/powerpoint/2010/main" val="10896658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2026-09-15T01:32:04.4300000Z</dcterms:created>
  <dcterms:modified xsi:type="dcterms:W3CDTF">2026-09-15T01:32:04.4300000Z</dcterms:modified>
</coreProperties>
</file>