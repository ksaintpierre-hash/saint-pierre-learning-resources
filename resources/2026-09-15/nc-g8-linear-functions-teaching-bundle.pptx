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bedd939d484ca9" /><Relationship Type="http://schemas.openxmlformats.org/officeDocument/2006/relationships/extended-properties" Target="/docProps/app.xml" Id="Ra4244b5f68a243fa" /><Relationship Type="http://schemas.openxmlformats.org/officeDocument/2006/relationships/officeDocument" Target="/ppt/presentation.xml" Id="R0a5e31ca92b64f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6cf6caea4b4073"/>
  </p:sldMasterIdLst>
  <p:notesMasterIdLst>
    <p:notesMasterId xmlns:r="http://schemas.openxmlformats.org/officeDocument/2006/relationships" r:id="R0147f8d9c1df4a83"/>
  </p:notesMasterIdLst>
  <p:sldIdLst>
    <p:sldId xmlns:r="http://schemas.openxmlformats.org/officeDocument/2006/relationships" id="256" r:id="Rdc8c65d797bc4ed1"/>
    <p:sldId xmlns:r="http://schemas.openxmlformats.org/officeDocument/2006/relationships" id="257" r:id="Re2790378309d4e2a"/>
    <p:sldId xmlns:r="http://schemas.openxmlformats.org/officeDocument/2006/relationships" id="258" r:id="R5b9f79ac98dc4b2f"/>
    <p:sldId xmlns:r="http://schemas.openxmlformats.org/officeDocument/2006/relationships" id="259" r:id="Rb3f34d7f51844ec9"/>
    <p:sldId xmlns:r="http://schemas.openxmlformats.org/officeDocument/2006/relationships" id="260" r:id="Rd680af25da8c4c6f"/>
    <p:sldId xmlns:r="http://schemas.openxmlformats.org/officeDocument/2006/relationships" id="261" r:id="R025d69c511634ac6"/>
    <p:sldId xmlns:r="http://schemas.openxmlformats.org/officeDocument/2006/relationships" id="262" r:id="Rd7791932ea684daa"/>
    <p:sldId xmlns:r="http://schemas.openxmlformats.org/officeDocument/2006/relationships" id="263" r:id="R65a91a4edfab40e2"/>
    <p:sldId xmlns:r="http://schemas.openxmlformats.org/officeDocument/2006/relationships" id="264" r:id="Re3e48f73f3f34355"/>
    <p:sldId xmlns:r="http://schemas.openxmlformats.org/officeDocument/2006/relationships" id="265" r:id="R54ca9a9cf9ab4a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84c3b8df3945eb" /><Relationship Type="http://schemas.openxmlformats.org/officeDocument/2006/relationships/slideMaster" Target="/ppt/slideMasters/slideMaster1.xml" Id="R5a6cf6caea4b4073" /><Relationship Type="http://schemas.openxmlformats.org/officeDocument/2006/relationships/notesMaster" Target="/ppt/notesMasters/notesMaster1.xml" Id="R0147f8d9c1df4a83" /><Relationship Type="http://schemas.openxmlformats.org/officeDocument/2006/relationships/presProps" Target="/ppt/presProps.xml" Id="R48b78cc0005c4fb5" /><Relationship Type="http://schemas.openxmlformats.org/officeDocument/2006/relationships/tableStyles" Target="/ppt/tableStyles.xml" Id="Ra4f50a01643a46ab" /><Relationship Type="http://schemas.openxmlformats.org/officeDocument/2006/relationships/slide" Target="/ppt/slides/slide1.xml" Id="Rdc8c65d797bc4ed1" /><Relationship Type="http://schemas.openxmlformats.org/officeDocument/2006/relationships/slide" Target="/ppt/slides/slide2.xml" Id="Re2790378309d4e2a" /><Relationship Type="http://schemas.openxmlformats.org/officeDocument/2006/relationships/slide" Target="/ppt/slides/slide3.xml" Id="R5b9f79ac98dc4b2f" /><Relationship Type="http://schemas.openxmlformats.org/officeDocument/2006/relationships/slide" Target="/ppt/slides/slide4.xml" Id="Rb3f34d7f51844ec9" /><Relationship Type="http://schemas.openxmlformats.org/officeDocument/2006/relationships/slide" Target="/ppt/slides/slide5.xml" Id="Rd680af25da8c4c6f" /><Relationship Type="http://schemas.openxmlformats.org/officeDocument/2006/relationships/slide" Target="/ppt/slides/slide6.xml" Id="R025d69c511634ac6" /><Relationship Type="http://schemas.openxmlformats.org/officeDocument/2006/relationships/slide" Target="/ppt/slides/slide7.xml" Id="Rd7791932ea684daa" /><Relationship Type="http://schemas.openxmlformats.org/officeDocument/2006/relationships/slide" Target="/ppt/slides/slide8.xml" Id="R65a91a4edfab40e2" /><Relationship Type="http://schemas.openxmlformats.org/officeDocument/2006/relationships/slide" Target="/ppt/slides/slide9.xml" Id="Re3e48f73f3f34355" /><Relationship Type="http://schemas.openxmlformats.org/officeDocument/2006/relationships/slide" Target="/ppt/slides/slide10.xml" Id="R54ca9a9cf9ab4a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fe61d0964440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c36c026b9647c4" /><Relationship Type="http://schemas.openxmlformats.org/officeDocument/2006/relationships/notesMaster" Target="/ppt/notesMasters/notesMaster1.xml" Id="R74c759d5fc8147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ccfaa3500347aa" /><Relationship Type="http://schemas.openxmlformats.org/officeDocument/2006/relationships/notesMaster" Target="/ppt/notesMasters/notesMaster1.xml" Id="Rb1d21aaa9fa74f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96ea852f87496d" /><Relationship Type="http://schemas.openxmlformats.org/officeDocument/2006/relationships/notesMaster" Target="/ppt/notesMasters/notesMaster1.xml" Id="Rd1b0ef2915d144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df43265ca64999" /><Relationship Type="http://schemas.openxmlformats.org/officeDocument/2006/relationships/notesMaster" Target="/ppt/notesMasters/notesMaster1.xml" Id="Rb25c25637e2840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746009f9af4632" /><Relationship Type="http://schemas.openxmlformats.org/officeDocument/2006/relationships/notesMaster" Target="/ppt/notesMasters/notesMaster1.xml" Id="R4963cf562e184e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6e92280565483f" /><Relationship Type="http://schemas.openxmlformats.org/officeDocument/2006/relationships/notesMaster" Target="/ppt/notesMasters/notesMaster1.xml" Id="Rb48ff92b36b64d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9e17f8f15f400a" /><Relationship Type="http://schemas.openxmlformats.org/officeDocument/2006/relationships/notesMaster" Target="/ppt/notesMasters/notesMaster1.xml" Id="Raa1ec3c1a2a348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9624cba652493d" /><Relationship Type="http://schemas.openxmlformats.org/officeDocument/2006/relationships/notesMaster" Target="/ppt/notesMasters/notesMaster1.xml" Id="Redb403f557af45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35a471eb684f85" /><Relationship Type="http://schemas.openxmlformats.org/officeDocument/2006/relationships/notesMaster" Target="/ppt/notesMasters/notesMaster1.xml" Id="Rb15e335a06e246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9737484b1f4907" /><Relationship Type="http://schemas.openxmlformats.org/officeDocument/2006/relationships/notesMaster" Target="/ppt/notesMasters/notesMaster1.xml" Id="Rbd4b2736485b45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focused mini-lesson. Use with the complete teaching-bundle PDF. Objective: Build and interpret linear models. Standard: NC.8.F.4. Official source accessed September 15, 2026: https://www.dpi.nc.gov/documents/publications/catalog/ma196-vertical-progression-math/open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a simpler prior-knowledge example. Use counters, diagrams, home-language rehearsal, or documented supports. Read the full teacher guide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Find change in y divided by change in x. Use a point to find the starting value in y = mx + 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answer: m = (14−8)/(6−3) = 2 dollars/kit. b = 8−2(3) = 2 dollars before any kits. Plot (0,2) and the two records. Ask students to connect the model with symbols before revealing the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m = (34−19)/(6−3) = 5 dollars/kit. b = 19−5(3) = 4 dollars before any kits. Plot (0,4) and the two records.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m = (22−16)/(8−5) = 2 dollars/kit. b = 16−2(5) = 6 dollars before any kits. Plot (0,6) and the two records.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m = (33−24)/(10−7) = 3 dollars/kit. b = 24−3(7) = 3 dollars before any kits. Plot (0,3) and the two records.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m = (20−14)/(8−5) = 2 dollars/kit. b = 14−2(5) = 4 dollars before any kits. Plot (0,4) and the two records.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m = (31−22)/(8−5) = 3 dollars/kit. b = 22−3(5) = 7 dollars before any kits. Plot (0,7) and the two records. Score 2 for correct result with coherent reasoning, 1 for a correct method with a minor error or an unexplained correct result, 0 for unsupported reasoning. This is a local instructional rubric, not a standardized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m = (34−19)/(6−3) = 5 dollars/kit. b = 19−5(3) = 4 dollars before any kits. Plot (0,4) and the two records.</a:t>
            </a:r>
          </a:p>
          <a:p xmlns:a="http://schemas.openxmlformats.org/drawingml/2006/main">
            <a:r>
              <a:t>2. m = (22−16)/(8−5) = 2 dollars/kit. b = 16−2(5) = 6 dollars before any kits. Plot (0,6) and the two records.</a:t>
            </a:r>
          </a:p>
          <a:p xmlns:a="http://schemas.openxmlformats.org/drawingml/2006/main">
            <a:r>
              <a:t>3. m = (33−24)/(10−7) = 3 dollars/kit. b = 24−3(7) = 3 dollars before any kits. Plot (0,3) and the two records.</a:t>
            </a:r>
          </a:p>
          <a:p xmlns:a="http://schemas.openxmlformats.org/drawingml/2006/main">
            <a:r>
              <a:t>4. m = (20−14)/(8−5) = 2 dollars/kit. b = 14−2(5) = 4 dollars before any kits. Plot (0,4) and the two records.</a:t>
            </a:r>
          </a:p>
          <a:p xmlns:a="http://schemas.openxmlformats.org/drawingml/2006/main">
            <a:r>
              <a:t>Exit: m = (31−22)/(8−5) = 3 dollars/kit. b = 22−3(5) = 7 dollars before any kits. Plot (0,7) and the two records.</a:t>
            </a:r>
          </a:p>
          <a:p xmlns:a="http://schemas.openxmlformats.org/drawingml/2006/main">
            <a:r>
              <a:t>AIG: second methods and counterexamples. 504: follow documented pacing and format supports. EC: model a step and provide concrete representations in line with the IEP. ESL: preview vocabulary and use partner or home-language rehearsal. Single-teacher classroom license. No public redistribution.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839d00186447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fa9f30c4f640e6" /><Relationship Type="http://schemas.openxmlformats.org/officeDocument/2006/relationships/slideLayout" Target="/ppt/slideLayouts/slideLayout1.xml" Id="R3170494e64b643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70494e64b643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0dc013dc84835" /><Relationship Type="http://schemas.openxmlformats.org/officeDocument/2006/relationships/image" Target="/ppt/media/image.png" Id="Rac49eb5aa75d47a0" /><Relationship Type="http://schemas.openxmlformats.org/officeDocument/2006/relationships/image" Target="/ppt/media/image2.png" Id="R8e80fe9102854e5b" /><Relationship Type="http://schemas.openxmlformats.org/officeDocument/2006/relationships/notesSlide" Target="/ppt/notesSlides/notesSlide1.xml" Id="R71b4742acb5542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6415fb2b04a62" /><Relationship Type="http://schemas.openxmlformats.org/officeDocument/2006/relationships/image" Target="/ppt/media/image3.png" Id="R51c5e51e627f457c" /><Relationship Type="http://schemas.openxmlformats.org/officeDocument/2006/relationships/notesSlide" Target="/ppt/notesSlides/notesSlide2.xml" Id="R8b3e37c499f347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1b8dbbb5b4db5" /><Relationship Type="http://schemas.openxmlformats.org/officeDocument/2006/relationships/image" Target="/ppt/media/image4.png" Id="R33a3d2a408524331" /><Relationship Type="http://schemas.openxmlformats.org/officeDocument/2006/relationships/notesSlide" Target="/ppt/notesSlides/notesSlide3.xml" Id="R2c418c2adf4f40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23faf69ca4aa0" /><Relationship Type="http://schemas.openxmlformats.org/officeDocument/2006/relationships/image" Target="/ppt/media/image5.png" Id="R3945757ae875473c" /><Relationship Type="http://schemas.openxmlformats.org/officeDocument/2006/relationships/notesSlide" Target="/ppt/notesSlides/notesSlide4.xml" Id="Rb7687e34d58b4d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2e1c311b948cc" /><Relationship Type="http://schemas.openxmlformats.org/officeDocument/2006/relationships/image" Target="/ppt/media/image6.png" Id="R534e492e360a466e" /><Relationship Type="http://schemas.openxmlformats.org/officeDocument/2006/relationships/notesSlide" Target="/ppt/notesSlides/notesSlide5.xml" Id="Rb2ab511e49a149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b2dff30de4acd" /><Relationship Type="http://schemas.openxmlformats.org/officeDocument/2006/relationships/image" Target="/ppt/media/image7.png" Id="R5f148c8463f64843" /><Relationship Type="http://schemas.openxmlformats.org/officeDocument/2006/relationships/notesSlide" Target="/ppt/notesSlides/notesSlide6.xml" Id="R755d0e704bdd46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dab2c901041ac" /><Relationship Type="http://schemas.openxmlformats.org/officeDocument/2006/relationships/image" Target="/ppt/media/image8.png" Id="R10d9b11405b5432d" /><Relationship Type="http://schemas.openxmlformats.org/officeDocument/2006/relationships/notesSlide" Target="/ppt/notesSlides/notesSlide7.xml" Id="R2e31eb2de0b24a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4c34e0c3c40a0" /><Relationship Type="http://schemas.openxmlformats.org/officeDocument/2006/relationships/image" Target="/ppt/media/image9.png" Id="R17e336a1c3ca4a40" /><Relationship Type="http://schemas.openxmlformats.org/officeDocument/2006/relationships/notesSlide" Target="/ppt/notesSlides/notesSlide8.xml" Id="R5c8a8bc973b049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b481c0d644c4a" /><Relationship Type="http://schemas.openxmlformats.org/officeDocument/2006/relationships/image" Target="/ppt/media/image10.png" Id="R12e75a935f1948db" /><Relationship Type="http://schemas.openxmlformats.org/officeDocument/2006/relationships/notesSlide" Target="/ppt/notesSlides/notesSlide9.xml" Id="R215929581daa42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49fb3557954a80" /><Relationship Type="http://schemas.openxmlformats.org/officeDocument/2006/relationships/image" Target="/ppt/media/image11.png" Id="R97439d2a8dde459c" /><Relationship Type="http://schemas.openxmlformats.org/officeDocument/2006/relationships/notesSlide" Target="/ppt/notesSlides/notesSlide10.xml" Id="R7e4cf0b5585148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F61F7E-CAAB-489A-9A9D-6A97EE99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SAINT PIERRE LEARNING RESOURCES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98AD5B-9DED-4A25-907E-4B746328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Rate and a Starting Value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9eb5aa75d47a0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FF666-E1AF-4125-A102-D077BAE5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38318-1FF3-4F4D-BC41-019BE560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80fe9102854e5b"/>
          <a:stretch xmlns:a="http://schemas.openxmlformats.org/drawingml/2006/main"/>
        </p:blipFill>
        <p:spPr>
          <a:xfrm xmlns:a="http://schemas.openxmlformats.org/drawingml/2006/main">
            <a:off x="571500" y="244792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A0320-CD2C-46EA-B5A8-5EE8E6AA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Grade 8 • Mathematics</a:t>
            </a:r>
          </a:p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NC.8.F.4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38AD75-B47D-46E8-8275-3F9109DC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43325"/>
            <a:ext cx="7953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Build and interpret linear models.</a:t>
            </a:r>
          </a:p>
        </p:txBody>
      </p:sp>
    </p:spTree>
    <p:extLst>
      <p:ext uri="{BB962C8B-B14F-4D97-AF65-F5344CB8AC3E}">
        <p14:creationId xmlns:p14="http://schemas.microsoft.com/office/powerpoint/2010/main" val="18624858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561B1-77E1-49F5-9A45-939B81BF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C39AC-83F4-4453-A219-6A6B4722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What will a strong explanation show?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c5e51e627f457c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CF22A-6489-450C-BF39-AE02ACA0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D7876-82D3-4D2F-AE51-6D6153BF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24040-2F79-4C9C-A06E-6CCC81C5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858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A model or equation that fits the quantities.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Accurate calculation with appropriate units.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A check that makes the answer reasonable.</a:t>
            </a:r>
          </a:p>
        </p:txBody>
      </p:sp>
    </p:spTree>
    <p:extLst>
      <p:ext uri="{BB962C8B-B14F-4D97-AF65-F5344CB8AC3E}">
        <p14:creationId xmlns:p14="http://schemas.microsoft.com/office/powerpoint/2010/main" val="14369162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E4C60-8F80-4316-9BC3-7BA153A8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98A9E-4E3B-4877-A1B0-35E40D43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Watch the reasoning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3d2a408524331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9F06C-0D91-4B21-9D19-3E80E980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EEF5C8-032C-4D0D-9249-976A10D7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53FFC-3BCF-40AD-8CD6-868B05FC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10858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club’s total cost y dollars depends linearly on x kits. Two records are (5,47) and (8,71). Find y = mx + b and interpret m and 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44A0B-4A67-4A9A-9002-ED92A941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1085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m = (71−47)/(8−5) = 8 dollars/kit. b = 47−8(5) = 7 dollars before any kits. Plot (0,7) and the two records.</a:t>
            </a:r>
          </a:p>
        </p:txBody>
      </p:sp>
    </p:spTree>
    <p:extLst>
      <p:ext uri="{BB962C8B-B14F-4D97-AF65-F5344CB8AC3E}">
        <p14:creationId xmlns:p14="http://schemas.microsoft.com/office/powerpoint/2010/main" val="2039051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5E8BA-985C-4955-9865-4CEF6901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743656-57DE-4585-8465-89745C98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Build a second model together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45757ae875473c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A8A3D-089E-461D-9465-83886539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0EFB6-1BB0-4B3B-9CAE-9B9553DF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6C3FD-C3A7-4093-A5D1-27C233D0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085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club’s total cost y dollars depends linearly on x kits. Two records are (3,8) and (6,14). Find y = mx + b and interpret m and 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F2E162-BF67-4CEC-ADF9-0CC68460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Discuss: What should the first step find?</a:t>
            </a:r>
          </a:p>
        </p:txBody>
      </p:sp>
    </p:spTree>
    <p:extLst>
      <p:ext uri="{BB962C8B-B14F-4D97-AF65-F5344CB8AC3E}">
        <p14:creationId xmlns:p14="http://schemas.microsoft.com/office/powerpoint/2010/main" val="7834342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6A211D-FE9F-4F54-A58D-9755D0A1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852B4-6096-4A48-80C8-66491D91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4e492e360a466e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4EDB1-5276-460A-AC5F-457EC256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A00BD-D336-475B-850F-6C1FD13B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50170-EA69-441D-AD75-A602C496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club’s total cost y dollars depends linearly on x kits. Two records are (3,19) and (6,34). Find y = mx + b and interpret m and 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BA152-174C-475C-91A4-90EB380B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4284579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4DBD1-793E-49D1-8845-0224D834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EAC0BD-A497-488F-BCDD-DBCAD916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48c8463f64843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E2F268-4035-4C25-BE93-3438B947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F64BE-2861-4A62-B48B-276C1EBA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88452-6B61-487A-9E8B-AD4181B3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club’s total cost y dollars depends linearly on x kits. Two records are (5,16) and (8,22). Find y = mx + b and interpret m and 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DECAE-FA6E-48F9-9B31-3B5DAF65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3145531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0E71F-EA91-4B47-AFAD-1A079A5A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7EE65-A6EE-4A3A-9521-1AC05EDE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d9b11405b5432d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5EDE4-F8C7-4587-A6EB-A9DE63BF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C55FF-E484-47D3-AEBC-EB7B7402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79861-283C-4A89-BDE7-4594651F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club’s total cost y dollars depends linearly on x kits. Two records are (7,24) and (10,33). Find y = mx + b and interpret m and 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C90F1-AA89-4BAF-BEC0-F3BB3C09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9620141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71B0B5-333D-485F-8CDC-5650A5EF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4778C-FE0B-4909-A616-C75BE5F8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336a1c3ca4a40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E70E5-F72A-4C40-9812-1741A301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24DFD-F1FC-4C83-9601-FB17A682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F5D05F-DE4F-4D11-841D-A7D7C3B7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club’s total cost y dollars depends linearly on x kits. Two records are (5,14) and (8,20). Find y = mx + b and interpret m and 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666602-1A26-4749-BD24-D849B6A2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9143951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F89044-949D-4471-8A64-40DDFF9C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B1EFC-989E-475D-967E-95971588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 question • Explain independently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75a935f1948db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DAF922-ED2C-415E-A9D4-A54A0E2A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0B833-4FFA-463B-9E11-A2D0474C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31A58-3930-41A6-9A10-422018EE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10858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club’s total cost y dollars depends linearly on x kits. Two records are (5,22) and (8,31). Find y = mx + b and interpret m and 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5317D-A753-4E86-A39D-0E09954A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017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Include a check. What would you teach someone else?</a:t>
            </a:r>
          </a:p>
        </p:txBody>
      </p:sp>
    </p:spTree>
    <p:extLst>
      <p:ext uri="{BB962C8B-B14F-4D97-AF65-F5344CB8AC3E}">
        <p14:creationId xmlns:p14="http://schemas.microsoft.com/office/powerpoint/2010/main" val="20476158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69FB6-1BA8-4636-B4EE-CD7FA8F9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TEACHER KEY • HIDE DURING INDEPENDENT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55CF6-B2C1-4BE6-BCA5-37F47869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Teacher review and next steps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439d2a8dde459c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C4515-6909-41EE-91EE-09B2379E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B6A10-F2BC-4C38-9797-5A2965C0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90FDE2-EB32-4A1C-BFDF-4891488B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66925"/>
            <a:ext cx="5143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y = 5x + 4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y = 2x + 6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y = 3x + 3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4. y = 2x + 4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82B76-7D69-4AE2-9CB7-1E6DD9FF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66925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Exit: y = 3x + 7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Use the worked PDF key and slide notes to discuss methods. Revisit the earliest unclear step before adding more practice.</a:t>
            </a:r>
          </a:p>
        </p:txBody>
      </p:sp>
    </p:spTree>
    <p:extLst>
      <p:ext uri="{BB962C8B-B14F-4D97-AF65-F5344CB8AC3E}">
        <p14:creationId xmlns:p14="http://schemas.microsoft.com/office/powerpoint/2010/main" val="15487874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2026-09-15T01:32:50.7540000Z</dcterms:created>
  <dcterms:modified xsi:type="dcterms:W3CDTF">2026-09-15T01:32:50.7540000Z</dcterms:modified>
</coreProperties>
</file>