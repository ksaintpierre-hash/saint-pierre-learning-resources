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046f74131e34c45" /><Relationship Type="http://schemas.openxmlformats.org/officeDocument/2006/relationships/extended-properties" Target="/docProps/app.xml" Id="Re86904c537d84453" /><Relationship Type="http://schemas.openxmlformats.org/officeDocument/2006/relationships/officeDocument" Target="/ppt/presentation.xml" Id="R4996a6669a1e47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f7b02a42084ba4"/>
  </p:sldMasterIdLst>
  <p:notesMasterIdLst>
    <p:notesMasterId xmlns:r="http://schemas.openxmlformats.org/officeDocument/2006/relationships" r:id="Rb9cca76243c64c30"/>
  </p:notesMasterIdLst>
  <p:sldIdLst>
    <p:sldId xmlns:r="http://schemas.openxmlformats.org/officeDocument/2006/relationships" id="256" r:id="R6fadf754480444c5"/>
    <p:sldId xmlns:r="http://schemas.openxmlformats.org/officeDocument/2006/relationships" id="257" r:id="R753a5d0f62584657"/>
    <p:sldId xmlns:r="http://schemas.openxmlformats.org/officeDocument/2006/relationships" id="258" r:id="R044ae36b0edf46ec"/>
    <p:sldId xmlns:r="http://schemas.openxmlformats.org/officeDocument/2006/relationships" id="259" r:id="R3c882d56abfb4156"/>
    <p:sldId xmlns:r="http://schemas.openxmlformats.org/officeDocument/2006/relationships" id="260" r:id="R1b8b4aba16384b00"/>
    <p:sldId xmlns:r="http://schemas.openxmlformats.org/officeDocument/2006/relationships" id="261" r:id="R444e2f54be524956"/>
    <p:sldId xmlns:r="http://schemas.openxmlformats.org/officeDocument/2006/relationships" id="262" r:id="R3adb262d6ddf49f0"/>
    <p:sldId xmlns:r="http://schemas.openxmlformats.org/officeDocument/2006/relationships" id="263" r:id="Rbc3d15b074714dae"/>
    <p:sldId xmlns:r="http://schemas.openxmlformats.org/officeDocument/2006/relationships" id="264" r:id="Rb393ad1467424cf6"/>
    <p:sldId xmlns:r="http://schemas.openxmlformats.org/officeDocument/2006/relationships" id="265" r:id="Rbd0016cb3db94f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683cbb635e4c01" /><Relationship Type="http://schemas.openxmlformats.org/officeDocument/2006/relationships/slideMaster" Target="/ppt/slideMasters/slideMaster1.xml" Id="R2ef7b02a42084ba4" /><Relationship Type="http://schemas.openxmlformats.org/officeDocument/2006/relationships/notesMaster" Target="/ppt/notesMasters/notesMaster1.xml" Id="Rb9cca76243c64c30" /><Relationship Type="http://schemas.openxmlformats.org/officeDocument/2006/relationships/presProps" Target="/ppt/presProps.xml" Id="R94fdb1c81e274cea" /><Relationship Type="http://schemas.openxmlformats.org/officeDocument/2006/relationships/tableStyles" Target="/ppt/tableStyles.xml" Id="R333bf0619eb943e5" /><Relationship Type="http://schemas.openxmlformats.org/officeDocument/2006/relationships/slide" Target="/ppt/slides/slide1.xml" Id="R6fadf754480444c5" /><Relationship Type="http://schemas.openxmlformats.org/officeDocument/2006/relationships/slide" Target="/ppt/slides/slide2.xml" Id="R753a5d0f62584657" /><Relationship Type="http://schemas.openxmlformats.org/officeDocument/2006/relationships/slide" Target="/ppt/slides/slide3.xml" Id="R044ae36b0edf46ec" /><Relationship Type="http://schemas.openxmlformats.org/officeDocument/2006/relationships/slide" Target="/ppt/slides/slide4.xml" Id="R3c882d56abfb4156" /><Relationship Type="http://schemas.openxmlformats.org/officeDocument/2006/relationships/slide" Target="/ppt/slides/slide5.xml" Id="R1b8b4aba16384b00" /><Relationship Type="http://schemas.openxmlformats.org/officeDocument/2006/relationships/slide" Target="/ppt/slides/slide6.xml" Id="R444e2f54be524956" /><Relationship Type="http://schemas.openxmlformats.org/officeDocument/2006/relationships/slide" Target="/ppt/slides/slide7.xml" Id="R3adb262d6ddf49f0" /><Relationship Type="http://schemas.openxmlformats.org/officeDocument/2006/relationships/slide" Target="/ppt/slides/slide8.xml" Id="Rbc3d15b074714dae" /><Relationship Type="http://schemas.openxmlformats.org/officeDocument/2006/relationships/slide" Target="/ppt/slides/slide9.xml" Id="Rb393ad1467424cf6" /><Relationship Type="http://schemas.openxmlformats.org/officeDocument/2006/relationships/slide" Target="/ppt/slides/slide10.xml" Id="Rbd0016cb3db94f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b0e1ba581e451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8b6f5f4d44e40d9" /><Relationship Type="http://schemas.openxmlformats.org/officeDocument/2006/relationships/notesMaster" Target="/ppt/notesMasters/notesMaster1.xml" Id="R6fdf3d2d7e1c43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af73e2a8134c3f" /><Relationship Type="http://schemas.openxmlformats.org/officeDocument/2006/relationships/notesMaster" Target="/ppt/notesMasters/notesMaster1.xml" Id="Rc44e2b4ace9d46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01a6a63b9584864" /><Relationship Type="http://schemas.openxmlformats.org/officeDocument/2006/relationships/notesMaster" Target="/ppt/notesMasters/notesMaster1.xml" Id="Re8406fb93d5949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33358cc90f496c" /><Relationship Type="http://schemas.openxmlformats.org/officeDocument/2006/relationships/notesMaster" Target="/ppt/notesMasters/notesMaster1.xml" Id="Rd584829fe14243d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82aed1264b1419e" /><Relationship Type="http://schemas.openxmlformats.org/officeDocument/2006/relationships/notesMaster" Target="/ppt/notesMasters/notesMaster1.xml" Id="R6413258167174b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a850dfcb5c04890" /><Relationship Type="http://schemas.openxmlformats.org/officeDocument/2006/relationships/notesMaster" Target="/ppt/notesMasters/notesMaster1.xml" Id="Ra98d7246d4424e4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cb27f9be3446b4" /><Relationship Type="http://schemas.openxmlformats.org/officeDocument/2006/relationships/notesMaster" Target="/ppt/notesMasters/notesMaster1.xml" Id="Raf8a41fe6fa6468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da0b0ed42e4ae9" /><Relationship Type="http://schemas.openxmlformats.org/officeDocument/2006/relationships/notesMaster" Target="/ppt/notesMasters/notesMaster1.xml" Id="R6cb72f0cf76b4d3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f84d5b74504f4c" /><Relationship Type="http://schemas.openxmlformats.org/officeDocument/2006/relationships/notesMaster" Target="/ppt/notesMasters/notesMaster1.xml" Id="R56d3efd9de0c47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ca4acdbb6134010" /><Relationship Type="http://schemas.openxmlformats.org/officeDocument/2006/relationships/notesMaster" Target="/ppt/notesMasters/notesMaster1.xml" Id="Rf8a73250eaf142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focused mini-lesson. Use with the complete teaching-bundle PDF. Objective: Connect layers of cubes with volume. Standard: NC.5.MD.5. Official source accessed September 15, 2026: https://www.dpi.nc.gov/documents/publications/catalog/ma196-vertical-progression-math/open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Invite a simpler prior-knowledge example. Use counters, diagrams, home-language rehearsal, or documented supports. Read the full teacher guide before presenting.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Count cubes in a base layer, then multiply by the number of layers. State volume in cubic units.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Worked answer: One layer has 7 × 4 = 28 cubes. 2 layers give 28 × 2 = 56 cm³. Ask students to connect the model with symbols before revealing the answer.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One layer has 6 × 3 = 18 cubes. 7 layers give 18 × 7 = 126 cm³.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One layer has 3 × 8 = 24 cubes. 2 layers give 24 × 2 = 48 cm³.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One layer has 6 × 5 = 30 cubes. 6 layers give 30 × 6 = 180 cm³.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 direction: write or draw your reasoning on paper. Worked solution: One layer has 7 × 6 = 42 cubes. 7 layers give 42 × 7 = 294 cm³. Access: allow oral rehearsal, manipulatives, or reduced copying according to individual plans. Extension: invent a new problem with the same structure and verify it.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Answer: One layer has 5 × 4 = 20 cubes. 6 layers give 20 × 6 = 120 cm³. Score 2 for correct result with coherent reasoning, 1 for a correct method with a minor error or an unexplained correct result, 0 for unsupported reasoning. This is a local instructional rubric, not a standardized score.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1. One layer has 6 × 3 = 18 cubes. 7 layers give 18 × 7 = 126 cm³.</a:t>
            </a:r>
          </a:p>
          <a:p xmlns:a="http://schemas.openxmlformats.org/drawingml/2006/main">
            <a:r>
              <a:t>2. One layer has 3 × 8 = 24 cubes. 2 layers give 24 × 2 = 48 cm³.</a:t>
            </a:r>
          </a:p>
          <a:p xmlns:a="http://schemas.openxmlformats.org/drawingml/2006/main">
            <a:r>
              <a:t>3. One layer has 6 × 5 = 30 cubes. 6 layers give 30 × 6 = 180 cm³.</a:t>
            </a:r>
          </a:p>
          <a:p xmlns:a="http://schemas.openxmlformats.org/drawingml/2006/main">
            <a:r>
              <a:t>4. One layer has 7 × 6 = 42 cubes. 7 layers give 42 × 7 = 294 cm³.</a:t>
            </a:r>
          </a:p>
          <a:p xmlns:a="http://schemas.openxmlformats.org/drawingml/2006/main">
            <a:r>
              <a:t>Exit: One layer has 5 × 4 = 20 cubes. 6 layers give 20 × 6 = 120 cm³.</a:t>
            </a:r>
          </a:p>
          <a:p xmlns:a="http://schemas.openxmlformats.org/drawingml/2006/main">
            <a:r>
              <a:t>AIG: second methods and counterexamples. 504: follow documented pacing and format supports. EC: model a step and provide concrete representations in line with the IEP. ESL: preview vocabulary and use partner or home-language rehearsal. Single-teacher classroom license. No public redistribution.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f670d6e08444a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7d4408e37c14ef0" /><Relationship Type="http://schemas.openxmlformats.org/officeDocument/2006/relationships/slideLayout" Target="/ppt/slideLayouts/slideLayout1.xml" Id="R07fa7019922048b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fa7019922048b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5d96f5b152449c" /><Relationship Type="http://schemas.openxmlformats.org/officeDocument/2006/relationships/image" Target="/ppt/media/image.png" Id="Rb77546b32a56465d" /><Relationship Type="http://schemas.openxmlformats.org/officeDocument/2006/relationships/image" Target="/ppt/media/image2.png" Id="Reece3795d60441f4" /><Relationship Type="http://schemas.openxmlformats.org/officeDocument/2006/relationships/notesSlide" Target="/ppt/notesSlides/notesSlide1.xml" Id="Rc4b780bf53ef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d06b3d53b54b92" /><Relationship Type="http://schemas.openxmlformats.org/officeDocument/2006/relationships/image" Target="/ppt/media/image3.png" Id="Rc5c5729cdd6d40ad" /><Relationship Type="http://schemas.openxmlformats.org/officeDocument/2006/relationships/notesSlide" Target="/ppt/notesSlides/notesSlide2.xml" Id="R46cbd193fa4248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f3768f5b44705" /><Relationship Type="http://schemas.openxmlformats.org/officeDocument/2006/relationships/image" Target="/ppt/media/image4.png" Id="Rc77c7652407d4fbb" /><Relationship Type="http://schemas.openxmlformats.org/officeDocument/2006/relationships/notesSlide" Target="/ppt/notesSlides/notesSlide3.xml" Id="Rcc983a3ea5194cb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7ae36957846e9" /><Relationship Type="http://schemas.openxmlformats.org/officeDocument/2006/relationships/image" Target="/ppt/media/image5.png" Id="R682edc507a9b4837" /><Relationship Type="http://schemas.openxmlformats.org/officeDocument/2006/relationships/notesSlide" Target="/ppt/notesSlides/notesSlide4.xml" Id="R52767a27b3854b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3c11778ea94dbf" /><Relationship Type="http://schemas.openxmlformats.org/officeDocument/2006/relationships/image" Target="/ppt/media/image6.png" Id="R68541e40ef3441ec" /><Relationship Type="http://schemas.openxmlformats.org/officeDocument/2006/relationships/notesSlide" Target="/ppt/notesSlides/notesSlide5.xml" Id="Re982a91d6f3149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56ef1cc2c4832" /><Relationship Type="http://schemas.openxmlformats.org/officeDocument/2006/relationships/image" Target="/ppt/media/image7.png" Id="R9720556ac28a4c0f" /><Relationship Type="http://schemas.openxmlformats.org/officeDocument/2006/relationships/notesSlide" Target="/ppt/notesSlides/notesSlide6.xml" Id="R76021fc3217f42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6df5ce17f4193" /><Relationship Type="http://schemas.openxmlformats.org/officeDocument/2006/relationships/image" Target="/ppt/media/image8.png" Id="R79fc584b003449d5" /><Relationship Type="http://schemas.openxmlformats.org/officeDocument/2006/relationships/notesSlide" Target="/ppt/notesSlides/notesSlide7.xml" Id="Ra7d02ffb2298468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fd5f9c3754dd1" /><Relationship Type="http://schemas.openxmlformats.org/officeDocument/2006/relationships/image" Target="/ppt/media/image9.png" Id="Ra5a1bb210fa64e49" /><Relationship Type="http://schemas.openxmlformats.org/officeDocument/2006/relationships/notesSlide" Target="/ppt/notesSlides/notesSlide8.xml" Id="R2c0a64f27cf34e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474c677774183" /><Relationship Type="http://schemas.openxmlformats.org/officeDocument/2006/relationships/image" Target="/ppt/media/image10.png" Id="R6fbf14fef2e34558" /><Relationship Type="http://schemas.openxmlformats.org/officeDocument/2006/relationships/notesSlide" Target="/ppt/notesSlides/notesSlide9.xml" Id="Rd7f2d54d5950462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35e8eec3fc416c" /><Relationship Type="http://schemas.openxmlformats.org/officeDocument/2006/relationships/image" Target="/ppt/media/image11.png" Id="Rf69be299262e4177" /><Relationship Type="http://schemas.openxmlformats.org/officeDocument/2006/relationships/notesSlide" Target="/ppt/notesSlides/notesSlide10.xml" Id="R81e671fe90ee44d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F4C29-5A34-4CFB-9EDA-E93119FD2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SAINT PIERRE LEARNING RESOURCES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720ED-DE91-4542-9C60-4FC3E926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Pack the Prism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7546b32a56465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F2E6D5-3441-47BC-BAD4-2A54AABA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650DCF-7CE5-4122-BCA2-ACD9D008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ce3795d60441f4"/>
          <a:stretch xmlns:a="http://schemas.openxmlformats.org/drawingml/2006/main"/>
        </p:blipFill>
        <p:spPr>
          <a:xfrm xmlns:a="http://schemas.openxmlformats.org/drawingml/2006/main">
            <a:off x="571500" y="2447925"/>
            <a:ext cx="2000250" cy="20002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7F1CC-31DA-4B9F-9E03-EC93E92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52700"/>
            <a:ext cx="790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Grade 5 • Mathematics</a:t>
            </a:r>
          </a:p>
          <a:p xmlns:a="http://schemas.openxmlformats.org/drawingml/2006/main">
            <a:pPr>
              <a:def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NC.5.MD.5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06DD2A-4960-4D57-9358-82761C47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743325"/>
            <a:ext cx="7953375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Connect layers of cubes with volume.</a:t>
            </a:r>
          </a:p>
        </p:txBody>
      </p:sp>
    </p:spTree>
    <p:extLst>
      <p:ext uri="{BB962C8B-B14F-4D97-AF65-F5344CB8AC3E}">
        <p14:creationId xmlns:p14="http://schemas.microsoft.com/office/powerpoint/2010/main" val="14440696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1BC530-F5C5-4BE8-83C8-AA2EF266A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4BDE-0AD7-4D8C-8A9E-3425D21D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What will a strong explanation show?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c5729cdd6d40ad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ED5D8F-489B-46BE-A1C9-43C208EA5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9AD285-02BA-4CD5-A925-1C8F289B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58AB1-C2D4-4065-8930-F2930394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38375"/>
            <a:ext cx="10858500" cy="3381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A model or equation that fits the quantities.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Accurate calculation with appropriate units.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A check that makes the answer reasonable.</a:t>
            </a:r>
          </a:p>
        </p:txBody>
      </p:sp>
    </p:spTree>
    <p:extLst>
      <p:ext uri="{BB962C8B-B14F-4D97-AF65-F5344CB8AC3E}">
        <p14:creationId xmlns:p14="http://schemas.microsoft.com/office/powerpoint/2010/main" val="9597840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02D68C-8532-4E58-B28C-C2A942D0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28C7B-7317-4E62-A9D9-7D9D1C4E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Watch the reasoning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c7652407d4fbb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1C9E-5B60-4C08-A22B-1A422720C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58629B-69CC-4AFD-888C-06EFE741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094109-3209-437A-BFE4-288B30F38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10858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library team measures 4 cm by 3 cm by 3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BF2EC-3B07-4984-84BB-3B9ABE4B8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62425"/>
            <a:ext cx="10858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One layer has 4 × 3 = 12 cubes. 3 layers give 12 × 3 = 36 cm³.</a:t>
            </a:r>
          </a:p>
        </p:txBody>
      </p:sp>
    </p:spTree>
    <p:extLst>
      <p:ext uri="{BB962C8B-B14F-4D97-AF65-F5344CB8AC3E}">
        <p14:creationId xmlns:p14="http://schemas.microsoft.com/office/powerpoint/2010/main" val="2124698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40AC53-D5B0-4C5E-8CD0-119F5BB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CCFB5A-2520-4668-803A-B6FA258F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Build a second model together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2edc507a9b483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B67A01-E3F5-4201-AAA5-CC8B525F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B2AF53-1026-4846-801F-313E771EB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6BFFE-DE51-4284-8215-52702D2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76450"/>
            <a:ext cx="10858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art club measures 7 cm by 4 cm by 2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FB63C3-2DC2-4C0C-9217-20AF7C503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85775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10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Discuss: What should the first step find?</a:t>
            </a:r>
          </a:p>
        </p:txBody>
      </p:sp>
    </p:spTree>
    <p:extLst>
      <p:ext uri="{BB962C8B-B14F-4D97-AF65-F5344CB8AC3E}">
        <p14:creationId xmlns:p14="http://schemas.microsoft.com/office/powerpoint/2010/main" val="4390071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88E78-40E5-4385-BC09-2DDFCCD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B02628-3F04-444D-8385-43AC7386D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1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541e40ef3441ec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1F6310-0513-495B-8C2E-970D20D2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F19055-CFE3-4D0E-86E8-51E8EDEF1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DF4DE-661D-4B93-B6A9-5472774F7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art club measures 6 cm by 3 cm by 7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119850-8A16-45F8-BB5B-C18435D4A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9468696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0ACDB2-2DA9-42D5-8410-CABBB451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E4C44-CCB1-4118-9398-E2199843A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20556ac28a4c0f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37033-7FAE-46FA-B21E-D1BA7A57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9D45B3-530C-4E3F-BF1C-D9C495A2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F8C04-4187-4663-96AD-4AED7BCBC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science club measures 3 cm by 8 cm by 2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430CB-DB3B-42AB-9065-E23FE368E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202652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5DD319-719C-429F-A7FA-EF93954B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716DAB-521B-4E2F-B6CF-9C4034F9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fc584b003449d5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14908B-A9EA-4034-B7DD-BCFBB8454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D1ABD7-64FD-4D84-A168-66ECAD52F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F4B4D0-9E7D-4FC5-9EDC-CD5DBAFD0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community center measures 6 cm by 5 cm by 6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C66BAE-8350-43C2-92B5-1AEDE01C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049839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B466D3-20CF-4DE4-AC0B-7D8DCAF67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C21CC-F079-44C8-B127-AAF3EF05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Your turn • 4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a1bb210fa64e49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2B3967-5356-4682-BDD3-D6070A13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A50655-88E3-4E21-9776-9EC7CE54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6108E9-84BD-4F9D-8C68-F0DE5A80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62175"/>
            <a:ext cx="10810875" cy="2400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reading group measures 7 cm by 6 cm by 7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35DF60-212A-4DDD-910E-6E949DA9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72075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Represent → solve → explain → check</a:t>
            </a:r>
          </a:p>
        </p:txBody>
      </p:sp>
    </p:spTree>
    <p:extLst>
      <p:ext uri="{BB962C8B-B14F-4D97-AF65-F5344CB8AC3E}">
        <p14:creationId xmlns:p14="http://schemas.microsoft.com/office/powerpoint/2010/main" val="139296380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F3127-08EE-435F-8BAB-08133FE7B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LEARN • EXPLAIN •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0CE4F-A137-4013-9E3C-2461AC81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 question • Explain independently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bf14fef2e34558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B90262-0832-494A-B133-B91742075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259B45-6064-4C60-8E97-2641BA49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E0965C-983D-4BDD-BF3D-66D67A2B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14550"/>
            <a:ext cx="108585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400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A storage prism for the music club measures 5 cm by 4 cm by 6 cm. Find its volume. Explain the number of unit cubes in one layer and the number of layers.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0DC144-7973-4971-AA6B-C0D7A539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10175"/>
            <a:ext cx="10810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Include a check. What would you teach someone else?</a:t>
            </a:r>
          </a:p>
        </p:txBody>
      </p:sp>
    </p:spTree>
    <p:extLst>
      <p:ext uri="{BB962C8B-B14F-4D97-AF65-F5344CB8AC3E}">
        <p14:creationId xmlns:p14="http://schemas.microsoft.com/office/powerpoint/2010/main" val="19864996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B48C8D-5396-4380-A8CD-18B4E4BC2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4765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defRPr>
            </a:pPr>
            <a:r>
              <a:rPr sz="1350" b="1">
                <a:solidFill>
                  <a:srgbClr val="246A70"/>
                </a:solidFill>
                <a:latin typeface="DejaVu Sans"/>
                <a:ea typeface="DejaVu Sans"/>
                <a:cs typeface="DejaVu Sans"/>
              </a:rPr>
              <a:t>TEACHER KEY • HIDE DURING INDEPENDENT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91DA1-4BCF-4114-A1B0-FD91AE28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23900"/>
            <a:ext cx="10953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Teacher review and next steps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9be299262e4177"/>
          <a:stretch xmlns:a="http://schemas.openxmlformats.org/drawingml/2006/main"/>
        </p:blipFill>
        <p:spPr>
          <a:xfrm xmlns:a="http://schemas.openxmlformats.org/drawingml/2006/main">
            <a:off x="571500" y="6043613"/>
            <a:ext cx="590550" cy="5905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C8403F-F48D-4F7F-8C73-AB4F0DD4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" y="62674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© 2026 Saint Pierre Learning Resources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7A6E51-ED32-4786-9E79-D73EED500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257925"/>
            <a:ext cx="476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defRPr>
            </a:pPr>
            <a:r>
              <a:rPr sz="1200" b="0">
                <a:solidFill>
                  <a:srgbClr val="536574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DDEEA1-5122-4932-989B-1F6FCA7E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66925"/>
            <a:ext cx="51435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1. 126 cm³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2. 48 cm³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3. 180 cm³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4. 294 cm³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C3B5A7-1CC5-4434-AC89-BEDA04E7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2066925"/>
            <a:ext cx="51435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Exit: 120 cm³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72D46"/>
                </a:solidFill>
                <a:latin typeface="DejaVu Sans"/>
                <a:ea typeface="DejaVu Sans"/>
                <a:cs typeface="DejaVu Sans"/>
              </a:rPr>
              <a:t>Use the worked PDF key and slide notes to discuss methods. Revisit the earliest unclear step before adding more practice.</a:t>
            </a:r>
          </a:p>
        </p:txBody>
      </p:sp>
    </p:spTree>
    <p:extLst>
      <p:ext uri="{BB962C8B-B14F-4D97-AF65-F5344CB8AC3E}">
        <p14:creationId xmlns:p14="http://schemas.microsoft.com/office/powerpoint/2010/main" val="2507613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2026-09-15T01:31:52.3460000Z</dcterms:created>
  <dcterms:modified xsi:type="dcterms:W3CDTF">2026-09-15T01:31:52.3460000Z</dcterms:modified>
</coreProperties>
</file>