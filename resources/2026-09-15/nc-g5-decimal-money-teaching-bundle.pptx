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6af9a2dba94bf8" /><Relationship Type="http://schemas.openxmlformats.org/officeDocument/2006/relationships/extended-properties" Target="/docProps/app.xml" Id="Rd9373fba927343b1" /><Relationship Type="http://schemas.openxmlformats.org/officeDocument/2006/relationships/officeDocument" Target="/ppt/presentation.xml" Id="R85c7c8c53dfc48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b236f630224e61"/>
  </p:sldMasterIdLst>
  <p:notesMasterIdLst>
    <p:notesMasterId xmlns:r="http://schemas.openxmlformats.org/officeDocument/2006/relationships" r:id="Rcb85ed8b6a0143ce"/>
  </p:notesMasterIdLst>
  <p:sldIdLst>
    <p:sldId xmlns:r="http://schemas.openxmlformats.org/officeDocument/2006/relationships" id="256" r:id="R7afd30351e0d4ed8"/>
    <p:sldId xmlns:r="http://schemas.openxmlformats.org/officeDocument/2006/relationships" id="257" r:id="R761cb55fe2134f68"/>
    <p:sldId xmlns:r="http://schemas.openxmlformats.org/officeDocument/2006/relationships" id="258" r:id="R70a88e624ec9437f"/>
    <p:sldId xmlns:r="http://schemas.openxmlformats.org/officeDocument/2006/relationships" id="259" r:id="Rc0a3f5b4ad99463f"/>
    <p:sldId xmlns:r="http://schemas.openxmlformats.org/officeDocument/2006/relationships" id="260" r:id="Rbceb8d442958459f"/>
    <p:sldId xmlns:r="http://schemas.openxmlformats.org/officeDocument/2006/relationships" id="261" r:id="R758a654d3c5846e7"/>
    <p:sldId xmlns:r="http://schemas.openxmlformats.org/officeDocument/2006/relationships" id="262" r:id="Rec796ed894044c6e"/>
    <p:sldId xmlns:r="http://schemas.openxmlformats.org/officeDocument/2006/relationships" id="263" r:id="R47d71b7a401f465e"/>
    <p:sldId xmlns:r="http://schemas.openxmlformats.org/officeDocument/2006/relationships" id="264" r:id="R641fcb8704d04009"/>
    <p:sldId xmlns:r="http://schemas.openxmlformats.org/officeDocument/2006/relationships" id="265" r:id="Rf3dcca0d3828423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ff7f621d4904a60" /><Relationship Type="http://schemas.openxmlformats.org/officeDocument/2006/relationships/slideMaster" Target="/ppt/slideMasters/slideMaster1.xml" Id="Rbdb236f630224e61" /><Relationship Type="http://schemas.openxmlformats.org/officeDocument/2006/relationships/notesMaster" Target="/ppt/notesMasters/notesMaster1.xml" Id="Rcb85ed8b6a0143ce" /><Relationship Type="http://schemas.openxmlformats.org/officeDocument/2006/relationships/presProps" Target="/ppt/presProps.xml" Id="R921d8142a2804b58" /><Relationship Type="http://schemas.openxmlformats.org/officeDocument/2006/relationships/tableStyles" Target="/ppt/tableStyles.xml" Id="R69a57eb6396d4a70" /><Relationship Type="http://schemas.openxmlformats.org/officeDocument/2006/relationships/slide" Target="/ppt/slides/slide1.xml" Id="R7afd30351e0d4ed8" /><Relationship Type="http://schemas.openxmlformats.org/officeDocument/2006/relationships/slide" Target="/ppt/slides/slide2.xml" Id="R761cb55fe2134f68" /><Relationship Type="http://schemas.openxmlformats.org/officeDocument/2006/relationships/slide" Target="/ppt/slides/slide3.xml" Id="R70a88e624ec9437f" /><Relationship Type="http://schemas.openxmlformats.org/officeDocument/2006/relationships/slide" Target="/ppt/slides/slide4.xml" Id="Rc0a3f5b4ad99463f" /><Relationship Type="http://schemas.openxmlformats.org/officeDocument/2006/relationships/slide" Target="/ppt/slides/slide5.xml" Id="Rbceb8d442958459f" /><Relationship Type="http://schemas.openxmlformats.org/officeDocument/2006/relationships/slide" Target="/ppt/slides/slide6.xml" Id="R758a654d3c5846e7" /><Relationship Type="http://schemas.openxmlformats.org/officeDocument/2006/relationships/slide" Target="/ppt/slides/slide7.xml" Id="Rec796ed894044c6e" /><Relationship Type="http://schemas.openxmlformats.org/officeDocument/2006/relationships/slide" Target="/ppt/slides/slide8.xml" Id="R47d71b7a401f465e" /><Relationship Type="http://schemas.openxmlformats.org/officeDocument/2006/relationships/slide" Target="/ppt/slides/slide9.xml" Id="R641fcb8704d04009" /><Relationship Type="http://schemas.openxmlformats.org/officeDocument/2006/relationships/slide" Target="/ppt/slides/slide10.xml" Id="Rf3dcca0d382842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456dbf1e8f4b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34bbcc209f4c76" /><Relationship Type="http://schemas.openxmlformats.org/officeDocument/2006/relationships/notesMaster" Target="/ppt/notesMasters/notesMaster1.xml" Id="R35b70646335243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ca681334f04720" /><Relationship Type="http://schemas.openxmlformats.org/officeDocument/2006/relationships/notesMaster" Target="/ppt/notesMasters/notesMaster1.xml" Id="Rfb19383792664c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4a645e9bcf4de2" /><Relationship Type="http://schemas.openxmlformats.org/officeDocument/2006/relationships/notesMaster" Target="/ppt/notesMasters/notesMaster1.xml" Id="R37c37859acba49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b6aca7f07a48f6" /><Relationship Type="http://schemas.openxmlformats.org/officeDocument/2006/relationships/notesMaster" Target="/ppt/notesMasters/notesMaster1.xml" Id="Ref23f4a1425e434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50c41a947b14a0b" /><Relationship Type="http://schemas.openxmlformats.org/officeDocument/2006/relationships/notesMaster" Target="/ppt/notesMasters/notesMaster1.xml" Id="Re03edbfd5e7a4ff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3c920342154d8f" /><Relationship Type="http://schemas.openxmlformats.org/officeDocument/2006/relationships/notesMaster" Target="/ppt/notesMasters/notesMaster1.xml" Id="Rfa1806b6534a45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01c9ff9e306428a" /><Relationship Type="http://schemas.openxmlformats.org/officeDocument/2006/relationships/notesMaster" Target="/ppt/notesMasters/notesMaster1.xml" Id="Rcd517ff77688456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7bd4fffc99b443f" /><Relationship Type="http://schemas.openxmlformats.org/officeDocument/2006/relationships/notesMaster" Target="/ppt/notesMasters/notesMaster1.xml" Id="R3203e94e5e38459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222ea38401344b9" /><Relationship Type="http://schemas.openxmlformats.org/officeDocument/2006/relationships/notesMaster" Target="/ppt/notesMasters/notesMaster1.xml" Id="Rf1552e57f5bc492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472f9b6fe6f475e" /><Relationship Type="http://schemas.openxmlformats.org/officeDocument/2006/relationships/notesMaster" Target="/ppt/notesMasters/notesMaster1.xml" Id="R8124e8286e5045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focused mini-lesson. Use with the complete teaching-bundle PDF. Objective: Use decimal place value in contextual operations. Standard: NC.5.NBT.7. Official source accessed September 15, 2026: https://www.dpi.nc.gov/documents/publications/catalog/ma196-vertical-progression-math/open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Invite a simpler prior-knowledge example. Use counters, diagrams, home-language rehearsal, or documented supports. Read the full teacher guide before presenting.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Align decimal places when combining amounts. Estimate with whole dollars, then check the exact cents.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Worked answer: Total: $3.14 + $6.52 = $9.66. Change: $12.00 − $9.66 = $2.34. Ask students to connect the model with symbols before revealing the answer.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Total: $2.87 + $1.78 = $4.65. Change: $7.00 − $4.65 = $2.35.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Total: $5.42 + $8.29 = $13.71. Change: $16.00 − $13.71 = $2.29.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Total: $2.45 + $8.59 = $11.04. Change: $14.00 − $11.04 = $2.96.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Total: $3.97 + $7.27 = $11.24. Change: $14.00 − $11.24 = $2.76.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Answer: Total: $6.01 + $6.14 = $12.15. Change: $15.00 − $12.15 = $2.85. Score 2 for correct result with coherent reasoning, 1 for a correct method with a minor error or an unexplained correct result, 0 for unsupported reasoning. This is a local instructional rubric, not a standardized score.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 Total: $2.87 + $1.78 = $4.65. Change: $7.00 − $4.65 = $2.35.</a:t>
            </a:r>
          </a:p>
          <a:p xmlns:a="http://schemas.openxmlformats.org/drawingml/2006/main">
            <a:r>
              <a:t>2. Total: $5.42 + $8.29 = $13.71. Change: $16.00 − $13.71 = $2.29.</a:t>
            </a:r>
          </a:p>
          <a:p xmlns:a="http://schemas.openxmlformats.org/drawingml/2006/main">
            <a:r>
              <a:t>3. Total: $2.45 + $8.59 = $11.04. Change: $14.00 − $11.04 = $2.96.</a:t>
            </a:r>
          </a:p>
          <a:p xmlns:a="http://schemas.openxmlformats.org/drawingml/2006/main">
            <a:r>
              <a:t>4. Total: $3.97 + $7.27 = $11.24. Change: $14.00 − $11.24 = $2.76.</a:t>
            </a:r>
          </a:p>
          <a:p xmlns:a="http://schemas.openxmlformats.org/drawingml/2006/main">
            <a:r>
              <a:t>Exit: Total: $6.01 + $6.14 = $12.15. Change: $15.00 − $12.15 = $2.85.</a:t>
            </a:r>
          </a:p>
          <a:p xmlns:a="http://schemas.openxmlformats.org/drawingml/2006/main">
            <a:r>
              <a:t>AIG: second methods and counterexamples. 504: follow documented pacing and format supports. EC: model a step and provide concrete representations in line with the IEP. ESL: preview vocabulary and use partner or home-language rehearsal. Single-teacher classroom license. No public redistribution.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5b6a55727747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96c122846445aa" /><Relationship Type="http://schemas.openxmlformats.org/officeDocument/2006/relationships/slideLayout" Target="/ppt/slideLayouts/slideLayout1.xml" Id="Rcc445163f53347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445163f53347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d26f456fe44cff" /><Relationship Type="http://schemas.openxmlformats.org/officeDocument/2006/relationships/image" Target="/ppt/media/image.png" Id="Rfe82116955fb4c00" /><Relationship Type="http://schemas.openxmlformats.org/officeDocument/2006/relationships/image" Target="/ppt/media/image2.png" Id="R53f78f4ee2414821" /><Relationship Type="http://schemas.openxmlformats.org/officeDocument/2006/relationships/notesSlide" Target="/ppt/notesSlides/notesSlide1.xml" Id="R48cf76b577cc495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ada142396b4391" /><Relationship Type="http://schemas.openxmlformats.org/officeDocument/2006/relationships/image" Target="/ppt/media/image3.png" Id="Rf971b7913dbe44ac" /><Relationship Type="http://schemas.openxmlformats.org/officeDocument/2006/relationships/notesSlide" Target="/ppt/notesSlides/notesSlide2.xml" Id="R85105e8222214a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8e5bb56d494414" /><Relationship Type="http://schemas.openxmlformats.org/officeDocument/2006/relationships/image" Target="/ppt/media/image4.png" Id="Rc394607ca1b0452b" /><Relationship Type="http://schemas.openxmlformats.org/officeDocument/2006/relationships/notesSlide" Target="/ppt/notesSlides/notesSlide3.xml" Id="R00b9a769ac8047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57843e21464701" /><Relationship Type="http://schemas.openxmlformats.org/officeDocument/2006/relationships/image" Target="/ppt/media/image5.png" Id="R98a0760e37fe4eec" /><Relationship Type="http://schemas.openxmlformats.org/officeDocument/2006/relationships/notesSlide" Target="/ppt/notesSlides/notesSlide4.xml" Id="R0a9ddb33da45458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1aeae81927406f" /><Relationship Type="http://schemas.openxmlformats.org/officeDocument/2006/relationships/image" Target="/ppt/media/image6.png" Id="Ref1c24030d3f4777" /><Relationship Type="http://schemas.openxmlformats.org/officeDocument/2006/relationships/notesSlide" Target="/ppt/notesSlides/notesSlide5.xml" Id="R1fb1e12737df461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ebbaaa7c9b464a" /><Relationship Type="http://schemas.openxmlformats.org/officeDocument/2006/relationships/image" Target="/ppt/media/image7.png" Id="R6aa3343e7a724448" /><Relationship Type="http://schemas.openxmlformats.org/officeDocument/2006/relationships/notesSlide" Target="/ppt/notesSlides/notesSlide6.xml" Id="R30ef91f66b1247b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1186b820d745a9" /><Relationship Type="http://schemas.openxmlformats.org/officeDocument/2006/relationships/image" Target="/ppt/media/image8.png" Id="R1ea402fb50a347b0" /><Relationship Type="http://schemas.openxmlformats.org/officeDocument/2006/relationships/notesSlide" Target="/ppt/notesSlides/notesSlide7.xml" Id="R3c5dd44e5884420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877b180b66400d" /><Relationship Type="http://schemas.openxmlformats.org/officeDocument/2006/relationships/image" Target="/ppt/media/image9.png" Id="R2787a7963e7d4cad" /><Relationship Type="http://schemas.openxmlformats.org/officeDocument/2006/relationships/notesSlide" Target="/ppt/notesSlides/notesSlide8.xml" Id="R2175e7d449f046b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17d7126f3a4a69" /><Relationship Type="http://schemas.openxmlformats.org/officeDocument/2006/relationships/image" Target="/ppt/media/image10.png" Id="R2f70cc0087e245af" /><Relationship Type="http://schemas.openxmlformats.org/officeDocument/2006/relationships/notesSlide" Target="/ppt/notesSlides/notesSlide9.xml" Id="Rc74a270c535743a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81deb074d3448e" /><Relationship Type="http://schemas.openxmlformats.org/officeDocument/2006/relationships/image" Target="/ppt/media/image11.png" Id="R1e68d70069924ab7" /><Relationship Type="http://schemas.openxmlformats.org/officeDocument/2006/relationships/notesSlide" Target="/ppt/notesSlides/notesSlide10.xml" Id="R875e1a438f8d41c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2ECA14-D2A8-49D0-967A-766DA4DA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SAINT PIERRE LEARNING RESOURCES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37F1AF-A312-47AF-AA8B-D638EFAF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Decimal Decisions at the Supply Desk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82116955fb4c00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13EDCA-1DF0-4159-92BB-FA93FF35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DBB639-53F2-4E39-A5A8-F120BEE4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f78f4ee2414821"/>
          <a:stretch xmlns:a="http://schemas.openxmlformats.org/drawingml/2006/main"/>
        </p:blipFill>
        <p:spPr>
          <a:xfrm xmlns:a="http://schemas.openxmlformats.org/drawingml/2006/main">
            <a:off x="571500" y="2447925"/>
            <a:ext cx="2000250" cy="2000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64F4D0-07DE-457D-9BC6-B39FAF03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52700"/>
            <a:ext cx="790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Grade 5 • Mathematics</a:t>
            </a:r>
          </a:p>
          <a:p xmlns:a="http://schemas.openxmlformats.org/drawingml/2006/main">
            <a:pPr>
              <a:def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NC.5.NBT.7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C802EE-BE0B-4F1E-AD71-D9F4EFB8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43325"/>
            <a:ext cx="795337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Use decimal place value in contextual operations.</a:t>
            </a:r>
          </a:p>
        </p:txBody>
      </p:sp>
    </p:spTree>
    <p:extLst>
      <p:ext uri="{BB962C8B-B14F-4D97-AF65-F5344CB8AC3E}">
        <p14:creationId xmlns:p14="http://schemas.microsoft.com/office/powerpoint/2010/main" val="16400421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856763-DE3A-4004-8E4C-849E1413C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0476FD-4D2F-4043-98B7-2D655D3F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What will a strong explanation show?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71b7913dbe44ac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F716E1-D209-4CD0-85DD-55A1112D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B19B77-2695-4D24-BFA4-569EBFA0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CE4914-5FF9-4918-B2C8-77E15FA8F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38375"/>
            <a:ext cx="108585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1. A model or equation that fits the quantities.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2. Accurate calculation with appropriate units.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3. A check that makes the answer reasonable.</a:t>
            </a:r>
          </a:p>
        </p:txBody>
      </p:sp>
    </p:spTree>
    <p:extLst>
      <p:ext uri="{BB962C8B-B14F-4D97-AF65-F5344CB8AC3E}">
        <p14:creationId xmlns:p14="http://schemas.microsoft.com/office/powerpoint/2010/main" val="8370193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F28315-5F51-4C13-B5F3-F57AAA1D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D02EB0-DB30-47F0-B1C8-7F184AF4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Watch the reasoning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94607ca1b0452b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513D1F-5862-4F64-AB09-13CB0074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423AB2-5DFC-4E15-87C1-98B46596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42C43-B1D0-4B39-80B3-BAEB9FF3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33600"/>
            <a:ext cx="10858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The science club buys supplies costing $4.25 and $7.28. It pays $14.00. Find the change and show a decimal-place check.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964755-8A97-4FA1-9718-18729226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62425"/>
            <a:ext cx="1085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Total: $4.25 + $7.28 = $11.53. Change: $14.00 − $11.53 = $2.47.</a:t>
            </a:r>
          </a:p>
        </p:txBody>
      </p:sp>
    </p:spTree>
    <p:extLst>
      <p:ext uri="{BB962C8B-B14F-4D97-AF65-F5344CB8AC3E}">
        <p14:creationId xmlns:p14="http://schemas.microsoft.com/office/powerpoint/2010/main" val="7431400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632785-4390-451D-8930-B209C3F7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6821B0-35D4-4329-AFC4-5C43A271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Build a second model together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a0760e37fe4eec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FD174A-4842-4646-A630-536BC00A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58EC2E-6ED2-4ADB-B1DC-872B0968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B57EE8-A7A8-436E-806C-942A216A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76450"/>
            <a:ext cx="10858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The library team buys supplies costing $3.14 and $6.52. It pays $12.00. Find the change and show a decimal-place check.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B2E615-B044-4734-920E-E8F6BF49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577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Discuss: What should the first step find?</a:t>
            </a:r>
          </a:p>
        </p:txBody>
      </p:sp>
    </p:spTree>
    <p:extLst>
      <p:ext uri="{BB962C8B-B14F-4D97-AF65-F5344CB8AC3E}">
        <p14:creationId xmlns:p14="http://schemas.microsoft.com/office/powerpoint/2010/main" val="10561344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13F4F9-4B1A-4837-8507-6364808A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F0B554-A47D-4A5B-A019-8E8EF5BA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1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1c24030d3f4777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72E0A9-7DD8-4893-BC2E-7BE15F672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36EE3D-63D5-4C72-8802-655C97AA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48E24B-4050-4724-AACF-4BE9B9AF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The music club buys supplies costing $2.87 and $1.78. It pays $7.00. Find the change and show a decimal-place check.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93976C-C2E2-40CD-882D-7E3D5AC4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1164723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100662-EBAF-460D-ADB5-A6BE7552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DFDEDC-566C-40BD-8259-0B49057B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2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a3343e7a724448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C35F0A-1CC5-4C0F-AA87-D42F3419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F975C3-1E71-450B-B980-DB5088DE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97C880-24FB-4762-BD6C-B02419DE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The music club buys supplies costing $5.42 and $8.29. It pays $16.00. Find the change and show a decimal-place check.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839420-04BC-4723-9E06-9335715D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15076036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8AE8CE-17D9-4AB4-9BCF-56092760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0567EE-838C-48A4-995F-584E7130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3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a402fb50a347b0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CE6C50-15F5-4FDB-AFB7-4EE39F4E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BA88C1-DBE5-4813-8F5C-28DFDDFC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21D292-224E-4132-8C9A-757AFD6B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The music club buys supplies costing $2.45 and $8.59. It pays $14.00. Find the change and show a decimal-place check.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FF5237-6F78-4507-BBFE-3F4C446A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18109866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69D3AD-1829-440C-9FA7-3B47C457D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00B8C4-62AF-4BB1-81E0-4F4FE4C7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4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87a7963e7d4cad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5C6723-C18B-41AD-B026-369AD659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9E8950-E372-499C-B68D-71030E836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1AE237-511F-4402-8136-99D13075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The art club buys supplies costing $3.97 and $7.27. It pays $14.00. Find the change and show a decimal-place check.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9A0DCA-91DD-4198-A116-F540BF16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4466473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F22272-5BCF-4470-ACD5-546DBF794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70619C-049B-4F6A-B2E7-AB8C2F68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Exit question • Explain independently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70cc0087e245af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1F1D01-9774-4B69-9336-C8D3456D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0C8259-8AAC-46DF-AE68-7AD2BF18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9EDB12-7402-415A-A09D-F55BB891A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14550"/>
            <a:ext cx="108585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The reading group buys supplies costing $6.01 and $6.14. It pays $15.00. Find the change and show a decimal-place check.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1A6AF5-EA18-4207-915F-CB51CDD2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0175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Include a check. What would you teach someone else?</a:t>
            </a:r>
          </a:p>
        </p:txBody>
      </p:sp>
    </p:spTree>
    <p:extLst>
      <p:ext uri="{BB962C8B-B14F-4D97-AF65-F5344CB8AC3E}">
        <p14:creationId xmlns:p14="http://schemas.microsoft.com/office/powerpoint/2010/main" val="62334813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CF3819-C5CF-475D-88F3-CB6BDE57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TEACHER KEY • HIDE DURING INDEPENDENT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DAA171-B689-495A-9E43-B3A365EC0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Teacher review and next steps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68d70069924ab7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658418-2BED-4E6F-804B-97E7C802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7F055E-1AFE-41FA-8EF0-0479DA65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8A8C66-6BA9-4109-99EE-D9A7ADD7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66925"/>
            <a:ext cx="5143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1. $2.35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2. $2.29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3. $2.96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4. $2.76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05825A-477E-401D-A05F-CD87EF8B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066925"/>
            <a:ext cx="5143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Exit: $2.85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Use the worked PDF key and slide notes to discuss methods. Revisit the earliest unclear step before adding more practice.</a:t>
            </a:r>
          </a:p>
        </p:txBody>
      </p:sp>
    </p:spTree>
    <p:extLst>
      <p:ext uri="{BB962C8B-B14F-4D97-AF65-F5344CB8AC3E}">
        <p14:creationId xmlns:p14="http://schemas.microsoft.com/office/powerpoint/2010/main" val="11124072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2026-09-15T01:31:44.4310000Z</dcterms:created>
  <dcterms:modified xsi:type="dcterms:W3CDTF">2026-09-15T01:31:44.4310000Z</dcterms:modified>
</coreProperties>
</file>